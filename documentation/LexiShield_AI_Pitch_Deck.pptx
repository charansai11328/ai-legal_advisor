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7e5da09-3260-c6aa-16e1-e6445fbfc572}">
          <p14:sldIdLst>
            <p14:sldId id="256"/>
          </p14:sldIdLst>
        </p14:section>
        <p14:section name="Problem" id="{03889a6c-69f1-cac1-d501-62883e5e0bf6}">
          <p14:sldIdLst>
            <p14:sldId id="257"/>
          </p14:sldIdLst>
        </p14:section>
        <p14:section name="Solution" id="{2aa564df-ecd1-9a85-072c-098704959f79}">
          <p14:sldIdLst>
            <p14:sldId id="258"/>
            <p14:sldId id="259"/>
            <p14:sldId id="260"/>
            <p14:sldId id="261"/>
            <p14:sldId id="262"/>
          </p14:sldIdLst>
        </p14:section>
        <p14:section name="Proof" id="{36775dfa-263e-330b-bcf7-20d0e9ef858a}">
          <p14:sldIdLst>
            <p14:sldId id="263"/>
            <p14:sldId id="264"/>
            <p14:sldId id="265"/>
          </p14:sldIdLst>
        </p14:section>
        <p14:section name="Close" id="{07e9b813-751c-e4a7-93f4-fb98bf4984dc}">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(30–45 sec):
Good [morning/afternoon]. We're [TEAM NAME], and this is LexiShield AI — a plain-English legal contract co-pilot. It's built for the people who sign contracts without a lawyer: freelancers, founders and small-business owners. Our promise is in the tagline: know what you're signing before you sign it.
SUGGESTED ANIMATION:
Fade in the scales icon, then the title with a slight upward slide; subtitle and tagline stagger in after 0.3 s each. The three pills slide in from the right one by one. Transition into the next slide: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(30–45 sec):
Roughly nine in ten small businesses sign contracts without any legal review, because lawyers bill by the hour. When people turn to a generic chatbot instead, it can invent statutes and gives advice with no sources. And existing legal tech is built for lawyers. Nothing connects a specific clause to a specific consequence with a citation you can check. [Source for the 90% figure: add before presenting.]
SUGGESTED ANIMATION:
Three cards fade in left to right with a slight upward slide, 0.25 s apart. The red takeaway line appears last with a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(30–45 sec):
LexiShield AI turns a dense contract into answers a business owner can act on. Upload the document, pick India, EU GDPR or UAE, and every finding comes with the exact quote from your contract, a plain-English explanation, and an official citation. On the left you can see one finding card — the kind of thing a founder actually needs to read.
SUGGESTED ANIMATION:
Mockup card slides in from the left; the three capabilities then build in from the right, one per click or 0.4 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(30–45 sec):
The workflow is deliberately simple. Step one: upload a TXT or PDF and choose your jurisdiction. Step two: an executive summary with a risk score and the top issues. Step three: each issue with its evidence, three alternative wordings, and a one-click fix. Step four: export a report you can share with a co-founder, a client or your lawyer.
SUGGESTED ANIMATION:
Each step card wipes in from the left in sequence (0.3 s stagger); the arrows fade in between them. Takeaway line fades in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(30–45 sec):
This is our core differentiator. Ask a generic chatbot about an indemnity clause and you get a vague warning — no quote, no source, nothing to act on. LexiShield gives you a structured card: a plain-English title, what it means, what could happen, the exact words from your contract, and a fix you can paste in.
SUGGESTED ANIMATION:
Left card fades in first, with the three red crosses appearing one by one. Then the right card slides in and its five rows build top to bottom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(30–45 sec):
Spotting a bad clause is half the job — you also need something to send back. For every risky clause, we show the original, a balanced revision the other side is likely to accept, and a pro-client version that protects you most. Each comes with a trade-off note, so you can choose your negotiating position, then click Apply to Contract.
SUGGESTED ANIMATION:
Original column appears first; Balanced and Pro-Client follow on click with a slide-from-right entrance. Trade-off text fades in beneath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(30–45 sec):
Law is local, so each jurisdiction is its own module. India covers the Contract Act 1872 and the DPDP Act 2023. The EU module covers GDPR, including Article 28 on processors. The UAE module covers Decree-Law 45 of 2021. Citations link to the official repositories and come from a curated data store, so we aren't relying on the model to remember statute numbers.
SUGGESTED ANIMATION:
Three cards fade up in sequence, left to right. Link chips pulse once (Emphasis &gt; Pulse) after the cards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(30–45 sec):
Under the hood it's intentionally simple. A vanilla JavaScript front end talks to a FastAPI backend. FastAPI calls Gemini 2.5 with a strict schema, and Pydantic validates what comes back before anything reaches the UI. The overall risk score is computed by a formula in Python, so the same findings always give the same score. There's no database and no build step.
SUGGESTED ANIMATION:
Boxes build left to right with a Wipe from left; arrows appear between them. Property cards fade in together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(30–45 sec):
Let's see it. [Switch to live app.] One click loads our sample SaaS agreement. The summary flags it as high potential risk with two high-risk issues. I'll open the first: you could be forced to pay unlimited costs. Here's the exact clause, here's the proposed fix, and one click applies it. Now a question: can the vendor sell my customer data? We get a cited answer. Finally, export the executive report. [Backup: screenshots of each step if the live demo fails.]
SUGGESTED ANIMATION:
Rows appear one at a time on click (Fade + slight slide up) so you can sync each row with the live demo. No transition needed to the app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(30–45 sec):
We didn't want to just say it works, so we built a benchmark. On our labelled set, LexiShield catches 94.2 percent of known risky clauses, 98.5 percent of citations match a real and relevant provision, and the quoted text overlaps the true clause with an IoU of 0.91. Average analysis time is about 3.1 seconds. We're upfront that this is an internal benchmark and we're expanding it. [Be ready to state the test-set size.]
SUGGESTED ANIMATION:
Four cards pop in left to right with a Zoom/Fade. Numbers can count up (Wipe from left) if your tool supports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(30–45 sec):
The architecture is stateless, so it scales horizontally, and each jurisdiction is a self-contained module. Next we'll add DOCX and OCR so scanned contracts work. Then accounts with saved reviews. Then more jurisdictions — Delaware, the UK and Singapore. And finally an enterprise API with team collaboration.
SUGGESTED ANIMATION:
Timeline line draws left to right (Wipe), with each phase circle and card appearing as the line reaches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(30–45 sec):
To recap: LexiShield AI finds the risky clause, quotes it, explains it in plain English, cites the law, and gives you wording to negotiate with. It's a co-pilot, not a replacement for a lawyer — it helps you walk into that conversation prepared. Scan the QR code to try it, find the code on GitHub, and we'd love your questions. Thank you.
SUGGESTED ANIMATION:
Title fades in with a slight slide; links stagger in beneath. Hold the slide static during Q&amp;A. Replace the QR placeholder with your demo link QR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PEN_DARK">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822960" y="2514600"/>
            <a:ext cx="7315200" cy="109728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822960" y="914400"/>
            <a:ext cx="6949440" cy="21945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LexiShield AI  ·  Plain-English Legal Contract Co-Pilot</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5.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5.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5.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5.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cales circle"/>
          <p:cNvSpPr/>
          <p:nvPr/>
        </p:nvSpPr>
        <p:spPr>
          <a:xfrm>
            <a:off x="822960" y="1234440"/>
            <a:ext cx="1005840" cy="1005840"/>
          </a:xfrm>
          <a:prstGeom prst="ellipse">
            <a:avLst/>
          </a:prstGeom>
          <a:solidFill>
            <a:schemeClr val="accent1"/>
          </a:solidFill>
          <a:ln/>
        </p:spPr>
      </p:sp>
      <p:pic>
        <p:nvPicPr>
          <p:cNvPr id="3" name="Scales icon" descr="Scales icon">    </p:cNvPr>
          <p:cNvPicPr>
            <a:picLocks noChangeAspect="1"/>
          </p:cNvPicPr>
          <p:nvPr/>
        </p:nvPicPr>
        <p:blipFill>
          <a:blip r:embed="rId1"/>
          <a:stretch>
            <a:fillRect/>
          </a:stretch>
        </p:blipFill>
        <p:spPr>
          <a:xfrm>
            <a:off x="1074420" y="1485900"/>
            <a:ext cx="502920" cy="502920"/>
          </a:xfrm>
          <a:prstGeom prst="rect">
            <a:avLst/>
          </a:prstGeom>
        </p:spPr>
      </p:pic>
      <p:sp>
        <p:nvSpPr>
          <p:cNvPr id="4" name="Text 1"/>
          <p:cNvSpPr/>
          <p:nvPr>
            <p:ph idx="101" type="title" hasCustomPrompt="1"/>
          </p:nvPr>
        </p:nvSpPr>
        <p:spPr>
          <a:xfrm>
            <a:off x="822960" y="2514600"/>
            <a:ext cx="7315200" cy="1097280"/>
          </a:xfrm>
          <a:prstGeom prst="rect">
            <a:avLst/>
          </a:prstGeom>
          <a:noFill/>
          <a:ln/>
        </p:spPr>
        <p:txBody>
          <a:bodyPr wrap="square" lIns="0" tIns="0" rIns="0" bIns="0" rtlCol="0" anchor="ctr"/>
          <a:lstStyle/>
          <a:p>
            <a:pPr algn="l" indent="0" marL="0">
              <a:buNone/>
            </a:pPr>
            <a:r>
              <a:rPr lang="en-US" sz="6000" b="1" dirty="0">
                <a:solidFill>
                  <a:schemeClr val="bg1"/>
                </a:solidFill>
              </a:rPr>
              <a:t>LexiShield AI</a:t>
            </a:r>
            <a:endParaRPr lang="en-US" sz="6000" dirty="0"/>
          </a:p>
        </p:txBody>
      </p:sp>
      <p:sp>
        <p:nvSpPr>
          <p:cNvPr id="5" name="Subtitle"/>
          <p:cNvSpPr txBox="1"/>
          <p:nvPr/>
        </p:nvSpPr>
        <p:spPr>
          <a:xfrm>
            <a:off x="822960" y="3703320"/>
            <a:ext cx="7315200" cy="548640"/>
          </a:xfrm>
          <a:prstGeom prst="rect">
            <a:avLst/>
          </a:prstGeom>
          <a:noFill/>
          <a:ln/>
        </p:spPr>
        <p:txBody>
          <a:bodyPr wrap="square" lIns="0" tIns="0" rIns="0" bIns="0" rtlCol="0" anchor="t"/>
          <a:lstStyle/>
          <a:p>
            <a:pPr indent="0" marL="0">
              <a:buNone/>
            </a:pPr>
            <a:r>
              <a:rPr lang="en-US" sz="2800" dirty="0">
                <a:solidFill>
                  <a:schemeClr val="bg2"/>
                </a:solidFill>
              </a:rPr>
              <a:t>Plain-English Legal Contract Co-Pilot</a:t>
            </a:r>
            <a:endParaRPr lang="en-US" sz="2800" dirty="0"/>
          </a:p>
        </p:txBody>
      </p:sp>
      <p:sp>
        <p:nvSpPr>
          <p:cNvPr id="6" name="Tagline"/>
          <p:cNvSpPr txBox="1"/>
          <p:nvPr/>
        </p:nvSpPr>
        <p:spPr>
          <a:xfrm>
            <a:off x="822960" y="4343400"/>
            <a:ext cx="7315200" cy="457200"/>
          </a:xfrm>
          <a:prstGeom prst="rect">
            <a:avLst/>
          </a:prstGeom>
          <a:noFill/>
          <a:ln/>
        </p:spPr>
        <p:txBody>
          <a:bodyPr wrap="square" lIns="0" tIns="0" rIns="0" bIns="0" rtlCol="0" anchor="t"/>
          <a:lstStyle/>
          <a:p>
            <a:pPr indent="0" marL="0">
              <a:buNone/>
            </a:pPr>
            <a:r>
              <a:rPr lang="en-US" sz="2000" i="1" dirty="0">
                <a:solidFill>
                  <a:schemeClr val="accent6"/>
                </a:solidFill>
              </a:rPr>
              <a:t>Know what you're signing — before you sign it.</a:t>
            </a:r>
            <a:endParaRPr lang="en-US" sz="2000" dirty="0"/>
          </a:p>
        </p:txBody>
      </p:sp>
      <p:sp>
        <p:nvSpPr>
          <p:cNvPr id="7" name="Team"/>
          <p:cNvSpPr txBox="1"/>
          <p:nvPr/>
        </p:nvSpPr>
        <p:spPr>
          <a:xfrm>
            <a:off x="822960" y="5852160"/>
            <a:ext cx="7315200" cy="365760"/>
          </a:xfrm>
          <a:prstGeom prst="rect">
            <a:avLst/>
          </a:prstGeom>
          <a:noFill/>
          <a:ln/>
        </p:spPr>
        <p:txBody>
          <a:bodyPr wrap="square" lIns="0" tIns="0" rIns="0" bIns="0" rtlCol="0" anchor="t"/>
          <a:lstStyle/>
          <a:p>
            <a:pPr indent="0" marL="0">
              <a:buNone/>
            </a:pPr>
            <a:r>
              <a:rPr lang="en-US" sz="1600" dirty="0">
                <a:solidFill>
                  <a:schemeClr val="bg2"/>
                </a:solidFill>
              </a:rPr>
              <a:t>[TEAM NAME]   ·   [HACKATHON NAME]</a:t>
            </a:r>
            <a:endParaRPr lang="en-US" sz="1600" dirty="0"/>
          </a:p>
        </p:txBody>
      </p:sp>
      <p:sp>
        <p:nvSpPr>
          <p:cNvPr id="8" name="Pill 1"/>
          <p:cNvSpPr/>
          <p:nvPr/>
        </p:nvSpPr>
        <p:spPr>
          <a:xfrm>
            <a:off x="8503920" y="1828800"/>
            <a:ext cx="3108960" cy="868680"/>
          </a:xfrm>
          <a:prstGeom prst="roundRect">
            <a:avLst>
              <a:gd name="adj" fmla="val 12632"/>
            </a:avLst>
          </a:prstGeom>
          <a:solidFill>
            <a:schemeClr val="bg1">
              <a:alpha val="12000"/>
            </a:schemeClr>
          </a:solidFill>
          <a:ln/>
        </p:spPr>
      </p:sp>
      <p:pic>
        <p:nvPicPr>
          <p:cNvPr id="9" name="Pill icon 1" descr="Pill icon 1">    </p:cNvPr>
          <p:cNvPicPr>
            <a:picLocks noChangeAspect="1"/>
          </p:cNvPicPr>
          <p:nvPr/>
        </p:nvPicPr>
        <p:blipFill>
          <a:blip r:embed="rId2"/>
          <a:stretch>
            <a:fillRect/>
          </a:stretch>
        </p:blipFill>
        <p:spPr>
          <a:xfrm>
            <a:off x="8732520" y="2075688"/>
            <a:ext cx="365760" cy="365760"/>
          </a:xfrm>
          <a:prstGeom prst="rect">
            <a:avLst/>
          </a:prstGeom>
        </p:spPr>
      </p:pic>
      <p:sp>
        <p:nvSpPr>
          <p:cNvPr id="10" name="Pill text 1"/>
          <p:cNvSpPr txBox="1"/>
          <p:nvPr/>
        </p:nvSpPr>
        <p:spPr>
          <a:xfrm>
            <a:off x="9281160" y="2011680"/>
            <a:ext cx="2240280" cy="502920"/>
          </a:xfrm>
          <a:prstGeom prst="rect">
            <a:avLst/>
          </a:prstGeom>
          <a:noFill/>
          <a:ln/>
        </p:spPr>
        <p:txBody>
          <a:bodyPr wrap="square" lIns="0" tIns="0" rIns="0" bIns="0" rtlCol="0" anchor="ctr"/>
          <a:lstStyle/>
          <a:p>
            <a:pPr indent="0" marL="0">
              <a:buNone/>
            </a:pPr>
            <a:r>
              <a:rPr lang="en-US" sz="1600" b="1" dirty="0">
                <a:solidFill>
                  <a:schemeClr val="bg1"/>
                </a:solidFill>
              </a:rPr>
              <a:t>Evidence-linked findings</a:t>
            </a:r>
            <a:endParaRPr lang="en-US" sz="1600" dirty="0"/>
          </a:p>
        </p:txBody>
      </p:sp>
      <p:sp>
        <p:nvSpPr>
          <p:cNvPr id="11" name="Pill 2"/>
          <p:cNvSpPr/>
          <p:nvPr/>
        </p:nvSpPr>
        <p:spPr>
          <a:xfrm>
            <a:off x="8503920" y="2971800"/>
            <a:ext cx="3108960" cy="868680"/>
          </a:xfrm>
          <a:prstGeom prst="roundRect">
            <a:avLst>
              <a:gd name="adj" fmla="val 12632"/>
            </a:avLst>
          </a:prstGeom>
          <a:solidFill>
            <a:schemeClr val="bg1">
              <a:alpha val="12000"/>
            </a:schemeClr>
          </a:solidFill>
          <a:ln/>
        </p:spPr>
      </p:sp>
      <p:pic>
        <p:nvPicPr>
          <p:cNvPr id="12" name="Pill icon 2" descr="Pill icon 2">    </p:cNvPr>
          <p:cNvPicPr>
            <a:picLocks noChangeAspect="1"/>
          </p:cNvPicPr>
          <p:nvPr/>
        </p:nvPicPr>
        <p:blipFill>
          <a:blip r:embed="rId3"/>
          <a:stretch>
            <a:fillRect/>
          </a:stretch>
        </p:blipFill>
        <p:spPr>
          <a:xfrm>
            <a:off x="8732520" y="3218688"/>
            <a:ext cx="365760" cy="365760"/>
          </a:xfrm>
          <a:prstGeom prst="rect">
            <a:avLst/>
          </a:prstGeom>
        </p:spPr>
      </p:pic>
      <p:sp>
        <p:nvSpPr>
          <p:cNvPr id="13" name="Pill text 2"/>
          <p:cNvSpPr txBox="1"/>
          <p:nvPr/>
        </p:nvSpPr>
        <p:spPr>
          <a:xfrm>
            <a:off x="9281160" y="3154680"/>
            <a:ext cx="2240280" cy="502920"/>
          </a:xfrm>
          <a:prstGeom prst="rect">
            <a:avLst/>
          </a:prstGeom>
          <a:noFill/>
          <a:ln/>
        </p:spPr>
        <p:txBody>
          <a:bodyPr wrap="square" lIns="0" tIns="0" rIns="0" bIns="0" rtlCol="0" anchor="ctr"/>
          <a:lstStyle/>
          <a:p>
            <a:pPr indent="0" marL="0">
              <a:buNone/>
            </a:pPr>
            <a:r>
              <a:rPr lang="en-US" sz="1600" b="1" dirty="0">
                <a:solidFill>
                  <a:schemeClr val="bg1"/>
                </a:solidFill>
              </a:rPr>
              <a:t>Plain English first</a:t>
            </a:r>
            <a:endParaRPr lang="en-US" sz="1600" dirty="0"/>
          </a:p>
        </p:txBody>
      </p:sp>
      <p:sp>
        <p:nvSpPr>
          <p:cNvPr id="14" name="Pill 3"/>
          <p:cNvSpPr/>
          <p:nvPr/>
        </p:nvSpPr>
        <p:spPr>
          <a:xfrm>
            <a:off x="8503920" y="4114800"/>
            <a:ext cx="3108960" cy="868680"/>
          </a:xfrm>
          <a:prstGeom prst="roundRect">
            <a:avLst>
              <a:gd name="adj" fmla="val 12632"/>
            </a:avLst>
          </a:prstGeom>
          <a:solidFill>
            <a:schemeClr val="bg1">
              <a:alpha val="12000"/>
            </a:schemeClr>
          </a:solidFill>
          <a:ln/>
        </p:spPr>
      </p:sp>
      <p:pic>
        <p:nvPicPr>
          <p:cNvPr id="15" name="Pill icon 3" descr="Pill icon 3">    </p:cNvPr>
          <p:cNvPicPr>
            <a:picLocks noChangeAspect="1"/>
          </p:cNvPicPr>
          <p:nvPr/>
        </p:nvPicPr>
        <p:blipFill>
          <a:blip r:embed="rId4"/>
          <a:stretch>
            <a:fillRect/>
          </a:stretch>
        </p:blipFill>
        <p:spPr>
          <a:xfrm>
            <a:off x="8732520" y="4361688"/>
            <a:ext cx="365760" cy="365760"/>
          </a:xfrm>
          <a:prstGeom prst="rect">
            <a:avLst/>
          </a:prstGeom>
        </p:spPr>
      </p:pic>
      <p:sp>
        <p:nvSpPr>
          <p:cNvPr id="16" name="Pill text 3"/>
          <p:cNvSpPr txBox="1"/>
          <p:nvPr/>
        </p:nvSpPr>
        <p:spPr>
          <a:xfrm>
            <a:off x="9281160" y="4297680"/>
            <a:ext cx="2240280" cy="502920"/>
          </a:xfrm>
          <a:prstGeom prst="rect">
            <a:avLst/>
          </a:prstGeom>
          <a:noFill/>
          <a:ln/>
        </p:spPr>
        <p:txBody>
          <a:bodyPr wrap="square" lIns="0" tIns="0" rIns="0" bIns="0" rtlCol="0" anchor="ctr"/>
          <a:lstStyle/>
          <a:p>
            <a:pPr indent="0" marL="0">
              <a:buNone/>
            </a:pPr>
            <a:r>
              <a:rPr lang="en-US" sz="1600" b="1" dirty="0">
                <a:solidFill>
                  <a:schemeClr val="bg1"/>
                </a:solidFill>
              </a:rPr>
              <a:t>India · EU GDPR · UAE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Most contracts get signed unread</a:t>
            </a:r>
            <a:endParaRPr lang="en-US" sz="3600" dirty="0"/>
          </a:p>
        </p:txBody>
      </p:sp>
      <p:sp>
        <p:nvSpPr>
          <p:cNvPr id="3" name="Problem card 1"/>
          <p:cNvSpPr/>
          <p:nvPr/>
        </p:nvSpPr>
        <p:spPr>
          <a:xfrm>
            <a:off x="548640" y="1554480"/>
            <a:ext cx="3520440" cy="3931920"/>
          </a:xfrm>
          <a:prstGeom prst="roundRect">
            <a:avLst>
              <a:gd name="adj" fmla="val 3117"/>
            </a:avLst>
          </a:prstGeom>
          <a:solidFill>
            <a:schemeClr val="bg2"/>
          </a:solidFill>
          <a:ln/>
        </p:spPr>
      </p:sp>
      <p:sp>
        <p:nvSpPr>
          <p:cNvPr id="4" name="Problem 1 circle"/>
          <p:cNvSpPr/>
          <p:nvPr/>
        </p:nvSpPr>
        <p:spPr>
          <a:xfrm>
            <a:off x="914400" y="1920240"/>
            <a:ext cx="822960" cy="822960"/>
          </a:xfrm>
          <a:prstGeom prst="ellipse">
            <a:avLst/>
          </a:prstGeom>
          <a:solidFill>
            <a:schemeClr val="accent2"/>
          </a:solidFill>
          <a:ln/>
        </p:spPr>
      </p:sp>
      <p:pic>
        <p:nvPicPr>
          <p:cNvPr id="5" name="Problem 1 icon" descr="Problem 1 icon">    </p:cNvPr>
          <p:cNvPicPr>
            <a:picLocks noChangeAspect="1"/>
          </p:cNvPicPr>
          <p:nvPr/>
        </p:nvPicPr>
        <p:blipFill>
          <a:blip r:embed="rId1"/>
          <a:stretch>
            <a:fillRect/>
          </a:stretch>
        </p:blipFill>
        <p:spPr>
          <a:xfrm>
            <a:off x="1120140" y="2125980"/>
            <a:ext cx="411480" cy="411480"/>
          </a:xfrm>
          <a:prstGeom prst="rect">
            <a:avLst/>
          </a:prstGeom>
        </p:spPr>
      </p:pic>
      <p:sp>
        <p:nvSpPr>
          <p:cNvPr id="6" name="Problem headline 1"/>
          <p:cNvSpPr txBox="1"/>
          <p:nvPr/>
        </p:nvSpPr>
        <p:spPr>
          <a:xfrm>
            <a:off x="914400" y="3017520"/>
            <a:ext cx="2788920" cy="914400"/>
          </a:xfrm>
          <a:prstGeom prst="rect">
            <a:avLst/>
          </a:prstGeom>
          <a:noFill/>
          <a:ln/>
        </p:spPr>
        <p:txBody>
          <a:bodyPr wrap="square" lIns="0" tIns="0" rIns="0" bIns="0" rtlCol="0" anchor="t"/>
          <a:lstStyle/>
          <a:p>
            <a:pPr indent="0" marL="0">
              <a:buNone/>
            </a:pPr>
            <a:r>
              <a:rPr lang="en-US" sz="2800" b="1" dirty="0">
                <a:solidFill>
                  <a:schemeClr val="tx2"/>
                </a:solidFill>
              </a:rPr>
              <a:t>90% sign without review</a:t>
            </a:r>
            <a:endParaRPr lang="en-US" sz="2800" dirty="0"/>
          </a:p>
        </p:txBody>
      </p:sp>
      <p:sp>
        <p:nvSpPr>
          <p:cNvPr id="7" name="Problem body 1"/>
          <p:cNvSpPr txBox="1"/>
          <p:nvPr/>
        </p:nvSpPr>
        <p:spPr>
          <a:xfrm>
            <a:off x="914400" y="4023360"/>
            <a:ext cx="2788920" cy="1280160"/>
          </a:xfrm>
          <a:prstGeom prst="rect">
            <a:avLst/>
          </a:prstGeom>
          <a:noFill/>
          <a:ln/>
        </p:spPr>
        <p:txBody>
          <a:bodyPr wrap="square" lIns="0" tIns="0" rIns="0" bIns="0" rtlCol="0" anchor="t"/>
          <a:lstStyle/>
          <a:p>
            <a:pPr indent="0" marL="0">
              <a:buNone/>
            </a:pPr>
            <a:r>
              <a:rPr lang="en-US" sz="1600" dirty="0">
                <a:solidFill>
                  <a:schemeClr val="tx1"/>
                </a:solidFill>
              </a:rPr>
              <a:t>Most small businesses skip legal review because the cost is out of reach.</a:t>
            </a:r>
            <a:endParaRPr lang="en-US" sz="1600" dirty="0"/>
          </a:p>
        </p:txBody>
      </p:sp>
      <p:sp>
        <p:nvSpPr>
          <p:cNvPr id="8" name="Problem card 2"/>
          <p:cNvSpPr/>
          <p:nvPr/>
        </p:nvSpPr>
        <p:spPr>
          <a:xfrm>
            <a:off x="4334256" y="1554480"/>
            <a:ext cx="3520440" cy="3931920"/>
          </a:xfrm>
          <a:prstGeom prst="roundRect">
            <a:avLst>
              <a:gd name="adj" fmla="val 3117"/>
            </a:avLst>
          </a:prstGeom>
          <a:solidFill>
            <a:schemeClr val="bg2"/>
          </a:solidFill>
          <a:ln/>
        </p:spPr>
      </p:sp>
      <p:sp>
        <p:nvSpPr>
          <p:cNvPr id="9" name="Problem 2 circle"/>
          <p:cNvSpPr/>
          <p:nvPr/>
        </p:nvSpPr>
        <p:spPr>
          <a:xfrm>
            <a:off x="4700016" y="1920240"/>
            <a:ext cx="822960" cy="822960"/>
          </a:xfrm>
          <a:prstGeom prst="ellipse">
            <a:avLst/>
          </a:prstGeom>
          <a:solidFill>
            <a:schemeClr val="accent2"/>
          </a:solidFill>
          <a:ln/>
        </p:spPr>
      </p:sp>
      <p:pic>
        <p:nvPicPr>
          <p:cNvPr id="10" name="Problem 2 icon" descr="Problem 2 icon">    </p:cNvPr>
          <p:cNvPicPr>
            <a:picLocks noChangeAspect="1"/>
          </p:cNvPicPr>
          <p:nvPr/>
        </p:nvPicPr>
        <p:blipFill>
          <a:blip r:embed="rId2"/>
          <a:stretch>
            <a:fillRect/>
          </a:stretch>
        </p:blipFill>
        <p:spPr>
          <a:xfrm>
            <a:off x="4905756" y="2125980"/>
            <a:ext cx="411480" cy="411480"/>
          </a:xfrm>
          <a:prstGeom prst="rect">
            <a:avLst/>
          </a:prstGeom>
        </p:spPr>
      </p:pic>
      <p:sp>
        <p:nvSpPr>
          <p:cNvPr id="11" name="Problem headline 2"/>
          <p:cNvSpPr txBox="1"/>
          <p:nvPr/>
        </p:nvSpPr>
        <p:spPr>
          <a:xfrm>
            <a:off x="4700016" y="3017520"/>
            <a:ext cx="2788920" cy="914400"/>
          </a:xfrm>
          <a:prstGeom prst="rect">
            <a:avLst/>
          </a:prstGeom>
          <a:noFill/>
          <a:ln/>
        </p:spPr>
        <p:txBody>
          <a:bodyPr wrap="square" lIns="0" tIns="0" rIns="0" bIns="0" rtlCol="0" anchor="t"/>
          <a:lstStyle/>
          <a:p>
            <a:pPr indent="0" marL="0">
              <a:buNone/>
            </a:pPr>
            <a:r>
              <a:rPr lang="en-US" sz="2800" b="1" dirty="0">
                <a:solidFill>
                  <a:schemeClr val="tx2"/>
                </a:solidFill>
              </a:rPr>
              <a:t>AI chatbots invent law</a:t>
            </a:r>
            <a:endParaRPr lang="en-US" sz="2800" dirty="0"/>
          </a:p>
        </p:txBody>
      </p:sp>
      <p:sp>
        <p:nvSpPr>
          <p:cNvPr id="12" name="Problem body 2"/>
          <p:cNvSpPr txBox="1"/>
          <p:nvPr/>
        </p:nvSpPr>
        <p:spPr>
          <a:xfrm>
            <a:off x="4700016" y="4023360"/>
            <a:ext cx="2788920" cy="1280160"/>
          </a:xfrm>
          <a:prstGeom prst="rect">
            <a:avLst/>
          </a:prstGeom>
          <a:noFill/>
          <a:ln/>
        </p:spPr>
        <p:txBody>
          <a:bodyPr wrap="square" lIns="0" tIns="0" rIns="0" bIns="0" rtlCol="0" anchor="t"/>
          <a:lstStyle/>
          <a:p>
            <a:pPr indent="0" marL="0">
              <a:buNone/>
            </a:pPr>
            <a:r>
              <a:rPr lang="en-US" sz="1600" dirty="0">
                <a:solidFill>
                  <a:schemeClr val="tx1"/>
                </a:solidFill>
              </a:rPr>
              <a:t>Generic chatbots hallucinate statutes and give advice with no sources.</a:t>
            </a:r>
            <a:endParaRPr lang="en-US" sz="1600" dirty="0"/>
          </a:p>
        </p:txBody>
      </p:sp>
      <p:sp>
        <p:nvSpPr>
          <p:cNvPr id="13" name="Problem card 3"/>
          <p:cNvSpPr/>
          <p:nvPr/>
        </p:nvSpPr>
        <p:spPr>
          <a:xfrm>
            <a:off x="8119872" y="1554480"/>
            <a:ext cx="3520440" cy="3931920"/>
          </a:xfrm>
          <a:prstGeom prst="roundRect">
            <a:avLst>
              <a:gd name="adj" fmla="val 3117"/>
            </a:avLst>
          </a:prstGeom>
          <a:solidFill>
            <a:schemeClr val="bg2"/>
          </a:solidFill>
          <a:ln/>
        </p:spPr>
      </p:sp>
      <p:sp>
        <p:nvSpPr>
          <p:cNvPr id="14" name="Problem 3 circle"/>
          <p:cNvSpPr/>
          <p:nvPr/>
        </p:nvSpPr>
        <p:spPr>
          <a:xfrm>
            <a:off x="8485632" y="1920240"/>
            <a:ext cx="822960" cy="822960"/>
          </a:xfrm>
          <a:prstGeom prst="ellipse">
            <a:avLst/>
          </a:prstGeom>
          <a:solidFill>
            <a:schemeClr val="accent2"/>
          </a:solidFill>
          <a:ln/>
        </p:spPr>
      </p:sp>
      <p:pic>
        <p:nvPicPr>
          <p:cNvPr id="15" name="Problem 3 icon" descr="Problem 3 icon">    </p:cNvPr>
          <p:cNvPicPr>
            <a:picLocks noChangeAspect="1"/>
          </p:cNvPicPr>
          <p:nvPr/>
        </p:nvPicPr>
        <p:blipFill>
          <a:blip r:embed="rId3"/>
          <a:stretch>
            <a:fillRect/>
          </a:stretch>
        </p:blipFill>
        <p:spPr>
          <a:xfrm>
            <a:off x="8691372" y="2125980"/>
            <a:ext cx="411480" cy="411480"/>
          </a:xfrm>
          <a:prstGeom prst="rect">
            <a:avLst/>
          </a:prstGeom>
        </p:spPr>
      </p:pic>
      <p:sp>
        <p:nvSpPr>
          <p:cNvPr id="16" name="Problem headline 3"/>
          <p:cNvSpPr txBox="1"/>
          <p:nvPr/>
        </p:nvSpPr>
        <p:spPr>
          <a:xfrm>
            <a:off x="8485632" y="3017520"/>
            <a:ext cx="2788920" cy="914400"/>
          </a:xfrm>
          <a:prstGeom prst="rect">
            <a:avLst/>
          </a:prstGeom>
          <a:noFill/>
          <a:ln/>
        </p:spPr>
        <p:txBody>
          <a:bodyPr wrap="square" lIns="0" tIns="0" rIns="0" bIns="0" rtlCol="0" anchor="t"/>
          <a:lstStyle/>
          <a:p>
            <a:pPr indent="0" marL="0">
              <a:buNone/>
            </a:pPr>
            <a:r>
              <a:rPr lang="en-US" sz="2800" b="1" dirty="0">
                <a:solidFill>
                  <a:schemeClr val="tx2"/>
                </a:solidFill>
              </a:rPr>
              <a:t>Tools built for lawyers</a:t>
            </a:r>
            <a:endParaRPr lang="en-US" sz="2800" dirty="0"/>
          </a:p>
        </p:txBody>
      </p:sp>
      <p:sp>
        <p:nvSpPr>
          <p:cNvPr id="17" name="Problem body 3"/>
          <p:cNvSpPr txBox="1"/>
          <p:nvPr/>
        </p:nvSpPr>
        <p:spPr>
          <a:xfrm>
            <a:off x="8485632" y="4023360"/>
            <a:ext cx="2788920" cy="1280160"/>
          </a:xfrm>
          <a:prstGeom prst="rect">
            <a:avLst/>
          </a:prstGeom>
          <a:noFill/>
          <a:ln/>
        </p:spPr>
        <p:txBody>
          <a:bodyPr wrap="square" lIns="0" tIns="0" rIns="0" bIns="0" rtlCol="0" anchor="t"/>
          <a:lstStyle/>
          <a:p>
            <a:pPr indent="0" marL="0">
              <a:buNone/>
            </a:pPr>
            <a:r>
              <a:rPr lang="en-US" sz="1600" dirty="0">
                <a:solidFill>
                  <a:schemeClr val="tx1"/>
                </a:solidFill>
              </a:rPr>
              <a:t>No tool links a specific clause to a specific legal consequence — with a verifiable citation.</a:t>
            </a:r>
            <a:endParaRPr lang="en-US" sz="1600" dirty="0"/>
          </a:p>
        </p:txBody>
      </p:sp>
      <p:sp>
        <p:nvSpPr>
          <p:cNvPr id="18" name="Takeaway"/>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2000" b="1" dirty="0">
                <a:solidFill>
                  <a:schemeClr val="accent2"/>
                </a:solidFill>
              </a:rPr>
              <a:t>Result: people sign first — and discover the risk later.</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Contract review in plain English</a:t>
            </a:r>
            <a:endParaRPr lang="en-US" sz="3600" dirty="0"/>
          </a:p>
        </p:txBody>
      </p:sp>
      <p:sp>
        <p:nvSpPr>
          <p:cNvPr id="3" name="Value proposition"/>
          <p:cNvSpPr txBox="1"/>
          <p:nvPr/>
        </p:nvSpPr>
        <p:spPr>
          <a:xfrm>
            <a:off x="548640" y="1234440"/>
            <a:ext cx="11064240" cy="411480"/>
          </a:xfrm>
          <a:prstGeom prst="rect">
            <a:avLst/>
          </a:prstGeom>
          <a:noFill/>
          <a:ln/>
        </p:spPr>
        <p:txBody>
          <a:bodyPr wrap="square" lIns="0" tIns="0" rIns="0" bIns="0" rtlCol="0" anchor="t"/>
          <a:lstStyle/>
          <a:p>
            <a:pPr indent="0" marL="0">
              <a:buNone/>
            </a:pPr>
            <a:r>
              <a:rPr lang="en-US" sz="1800" dirty="0">
                <a:solidFill>
                  <a:schemeClr val="accent5"/>
                </a:solidFill>
              </a:rPr>
              <a:t>Upload a contract. Pick a jurisdiction. Get evidence-linked answers you can act on.</a:t>
            </a:r>
            <a:endParaRPr lang="en-US" sz="1800" dirty="0"/>
          </a:p>
        </p:txBody>
      </p:sp>
      <p:sp>
        <p:nvSpPr>
          <p:cNvPr id="4" name="Mockup frame"/>
          <p:cNvSpPr/>
          <p:nvPr/>
        </p:nvSpPr>
        <p:spPr>
          <a:xfrm>
            <a:off x="548640" y="1828800"/>
            <a:ext cx="6035040" cy="4297680"/>
          </a:xfrm>
          <a:prstGeom prst="roundRect">
            <a:avLst>
              <a:gd name="adj" fmla="val 2553"/>
            </a:avLst>
          </a:prstGeom>
          <a:solidFill>
            <a:schemeClr val="bg2"/>
          </a:solidFill>
          <a:ln/>
        </p:spPr>
      </p:sp>
      <p:sp>
        <p:nvSpPr>
          <p:cNvPr id="5" name="Mockup card"/>
          <p:cNvSpPr/>
          <p:nvPr/>
        </p:nvSpPr>
        <p:spPr>
          <a:xfrm>
            <a:off x="822960" y="2103120"/>
            <a:ext cx="5486400" cy="3749040"/>
          </a:xfrm>
          <a:prstGeom prst="roundRect">
            <a:avLst>
              <a:gd name="adj" fmla="val 2927"/>
            </a:avLst>
          </a:prstGeom>
          <a:solidFill>
            <a:schemeClr val="bg1"/>
          </a:solidFill>
          <a:ln/>
        </p:spPr>
      </p:sp>
      <p:sp>
        <p:nvSpPr>
          <p:cNvPr id="6" name="Severity badge"/>
          <p:cNvSpPr/>
          <p:nvPr/>
        </p:nvSpPr>
        <p:spPr>
          <a:xfrm>
            <a:off x="1097280" y="2331720"/>
            <a:ext cx="1554480" cy="365760"/>
          </a:xfrm>
          <a:prstGeom prst="roundRect">
            <a:avLst>
              <a:gd name="adj" fmla="val 30000"/>
            </a:avLst>
          </a:prstGeom>
          <a:solidFill>
            <a:schemeClr val="accent2"/>
          </a:solidFill>
          <a:ln/>
        </p:spPr>
      </p:sp>
      <p:sp>
        <p:nvSpPr>
          <p:cNvPr id="7" name="Badge text"/>
          <p:cNvSpPr txBox="1"/>
          <p:nvPr/>
        </p:nvSpPr>
        <p:spPr>
          <a:xfrm>
            <a:off x="1097280" y="2331720"/>
            <a:ext cx="1554480" cy="365760"/>
          </a:xfrm>
          <a:prstGeom prst="rect">
            <a:avLst/>
          </a:prstGeom>
          <a:noFill/>
          <a:ln/>
        </p:spPr>
        <p:txBody>
          <a:bodyPr wrap="square" lIns="0" tIns="0" rIns="0" bIns="0" rtlCol="0" anchor="ctr"/>
          <a:lstStyle/>
          <a:p>
            <a:pPr algn="ctr" indent="0" marL="0">
              <a:buNone/>
            </a:pPr>
            <a:r>
              <a:rPr lang="en-US" sz="1200" b="1" dirty="0">
                <a:solidFill>
                  <a:schemeClr val="bg1"/>
                </a:solidFill>
              </a:rPr>
              <a:t>HIGH  ·  9/10</a:t>
            </a:r>
            <a:endParaRPr lang="en-US" sz="1200" dirty="0"/>
          </a:p>
        </p:txBody>
      </p:sp>
      <p:sp>
        <p:nvSpPr>
          <p:cNvPr id="8" name="Clause ref"/>
          <p:cNvSpPr txBox="1"/>
          <p:nvPr/>
        </p:nvSpPr>
        <p:spPr>
          <a:xfrm>
            <a:off x="4846320" y="2331720"/>
            <a:ext cx="1188720" cy="365760"/>
          </a:xfrm>
          <a:prstGeom prst="rect">
            <a:avLst/>
          </a:prstGeom>
          <a:noFill/>
          <a:ln/>
        </p:spPr>
        <p:txBody>
          <a:bodyPr wrap="square" lIns="0" tIns="0" rIns="0" bIns="0" rtlCol="0" anchor="ctr"/>
          <a:lstStyle/>
          <a:p>
            <a:pPr algn="r" indent="0" marL="0">
              <a:buNone/>
            </a:pPr>
            <a:r>
              <a:rPr lang="en-US" sz="1200" dirty="0">
                <a:solidFill>
                  <a:schemeClr val="accent5"/>
                </a:solidFill>
              </a:rPr>
              <a:t>Section 3.1</a:t>
            </a:r>
            <a:endParaRPr lang="en-US" sz="1200" dirty="0"/>
          </a:p>
        </p:txBody>
      </p:sp>
      <p:sp>
        <p:nvSpPr>
          <p:cNvPr id="9" name="Finding title"/>
          <p:cNvSpPr txBox="1"/>
          <p:nvPr/>
        </p:nvSpPr>
        <p:spPr>
          <a:xfrm>
            <a:off x="1097280" y="2834640"/>
            <a:ext cx="4937760" cy="777240"/>
          </a:xfrm>
          <a:prstGeom prst="rect">
            <a:avLst/>
          </a:prstGeom>
          <a:noFill/>
          <a:ln/>
        </p:spPr>
        <p:txBody>
          <a:bodyPr wrap="square" lIns="0" tIns="0" rIns="0" bIns="0" rtlCol="0" anchor="t"/>
          <a:lstStyle/>
          <a:p>
            <a:pPr indent="0" marL="0">
              <a:buNone/>
            </a:pPr>
            <a:r>
              <a:rPr lang="en-US" sz="2000" b="1" dirty="0">
                <a:solidFill>
                  <a:schemeClr val="tx2"/>
                </a:solidFill>
              </a:rPr>
              <a:t>You could be forced to pay unlimited costs for the vendor's mistakes</a:t>
            </a:r>
            <a:endParaRPr lang="en-US" sz="2000" dirty="0"/>
          </a:p>
        </p:txBody>
      </p:sp>
      <p:sp>
        <p:nvSpPr>
          <p:cNvPr id="10" name="Quote box"/>
          <p:cNvSpPr/>
          <p:nvPr/>
        </p:nvSpPr>
        <p:spPr>
          <a:xfrm>
            <a:off x="1097280" y="3703320"/>
            <a:ext cx="4937760" cy="868680"/>
          </a:xfrm>
          <a:prstGeom prst="roundRect">
            <a:avLst>
              <a:gd name="adj" fmla="val 12632"/>
            </a:avLst>
          </a:prstGeom>
          <a:solidFill>
            <a:schemeClr val="bg2"/>
          </a:solidFill>
          <a:ln/>
        </p:spPr>
      </p:sp>
      <p:sp>
        <p:nvSpPr>
          <p:cNvPr id="11" name="Quote text"/>
          <p:cNvSpPr txBox="1"/>
          <p:nvPr/>
        </p:nvSpPr>
        <p:spPr>
          <a:xfrm>
            <a:off x="1280160" y="3794760"/>
            <a:ext cx="4572000" cy="68580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“Client shall indemnify Vendor against all claims… regardless of fault.”</a:t>
            </a:r>
            <a:endParaRPr lang="en-US" sz="1400" dirty="0"/>
          </a:p>
        </p:txBody>
      </p:sp>
      <p:sp>
        <p:nvSpPr>
          <p:cNvPr id="12" name="Fix text"/>
          <p:cNvSpPr txBox="1"/>
          <p:nvPr/>
        </p:nvSpPr>
        <p:spPr>
          <a:xfrm>
            <a:off x="1097280" y="4709160"/>
            <a:ext cx="4937760" cy="365760"/>
          </a:xfrm>
          <a:prstGeom prst="rect">
            <a:avLst/>
          </a:prstGeom>
          <a:noFill/>
          <a:ln/>
        </p:spPr>
        <p:txBody>
          <a:bodyPr wrap="square" lIns="0" tIns="0" rIns="0" bIns="0" rtlCol="0" anchor="t"/>
          <a:lstStyle/>
          <a:p>
            <a:pPr indent="0" marL="0">
              <a:buNone/>
            </a:pPr>
            <a:r>
              <a:rPr lang="en-US" sz="1400" dirty="0">
                <a:solidFill>
                  <a:schemeClr val="tx1"/>
                </a:solidFill>
              </a:rPr>
              <a:t>Suggested fix: mutual indemnity, capped at fees paid.</a:t>
            </a:r>
            <a:endParaRPr lang="en-US" sz="1400" dirty="0"/>
          </a:p>
        </p:txBody>
      </p:sp>
      <p:sp>
        <p:nvSpPr>
          <p:cNvPr id="13" name="Apply button"/>
          <p:cNvSpPr/>
          <p:nvPr/>
        </p:nvSpPr>
        <p:spPr>
          <a:xfrm>
            <a:off x="1097280" y="5212080"/>
            <a:ext cx="2103120" cy="411480"/>
          </a:xfrm>
          <a:prstGeom prst="roundRect">
            <a:avLst>
              <a:gd name="adj" fmla="val 26667"/>
            </a:avLst>
          </a:prstGeom>
          <a:solidFill>
            <a:schemeClr val="accent1"/>
          </a:solidFill>
          <a:ln/>
        </p:spPr>
      </p:sp>
      <p:sp>
        <p:nvSpPr>
          <p:cNvPr id="14" name="Apply button text"/>
          <p:cNvSpPr txBox="1"/>
          <p:nvPr/>
        </p:nvSpPr>
        <p:spPr>
          <a:xfrm>
            <a:off x="1097280" y="5212080"/>
            <a:ext cx="2103120" cy="411480"/>
          </a:xfrm>
          <a:prstGeom prst="rect">
            <a:avLst/>
          </a:prstGeom>
          <a:noFill/>
          <a:ln/>
        </p:spPr>
        <p:txBody>
          <a:bodyPr wrap="square" lIns="0" tIns="0" rIns="0" bIns="0" rtlCol="0" anchor="ctr"/>
          <a:lstStyle/>
          <a:p>
            <a:pPr algn="ctr" indent="0" marL="0">
              <a:buNone/>
            </a:pPr>
            <a:r>
              <a:rPr lang="en-US" sz="1400" b="1" dirty="0">
                <a:solidFill>
                  <a:schemeClr val="bg1"/>
                </a:solidFill>
              </a:rPr>
              <a:t>Apply to Contract</a:t>
            </a:r>
            <a:endParaRPr lang="en-US" sz="1400" dirty="0"/>
          </a:p>
        </p:txBody>
      </p:sp>
      <p:sp>
        <p:nvSpPr>
          <p:cNvPr id="15" name="Capability 1 circle"/>
          <p:cNvSpPr/>
          <p:nvPr/>
        </p:nvSpPr>
        <p:spPr>
          <a:xfrm>
            <a:off x="7040880" y="1920240"/>
            <a:ext cx="777240" cy="777240"/>
          </a:xfrm>
          <a:prstGeom prst="ellipse">
            <a:avLst/>
          </a:prstGeom>
          <a:solidFill>
            <a:schemeClr val="accent1"/>
          </a:solidFill>
          <a:ln/>
        </p:spPr>
      </p:sp>
      <p:pic>
        <p:nvPicPr>
          <p:cNvPr id="16" name="Capability 1 icon" descr="Capability 1 icon">    </p:cNvPr>
          <p:cNvPicPr>
            <a:picLocks noChangeAspect="1"/>
          </p:cNvPicPr>
          <p:nvPr/>
        </p:nvPicPr>
        <p:blipFill>
          <a:blip r:embed="rId1"/>
          <a:stretch>
            <a:fillRect/>
          </a:stretch>
        </p:blipFill>
        <p:spPr>
          <a:xfrm>
            <a:off x="7235190" y="2114550"/>
            <a:ext cx="388620" cy="388620"/>
          </a:xfrm>
          <a:prstGeom prst="rect">
            <a:avLst/>
          </a:prstGeom>
        </p:spPr>
      </p:pic>
      <p:sp>
        <p:nvSpPr>
          <p:cNvPr id="17" name="Capability title 1"/>
          <p:cNvSpPr txBox="1"/>
          <p:nvPr/>
        </p:nvSpPr>
        <p:spPr>
          <a:xfrm>
            <a:off x="8046720" y="1938528"/>
            <a:ext cx="3566160" cy="365760"/>
          </a:xfrm>
          <a:prstGeom prst="rect">
            <a:avLst/>
          </a:prstGeom>
          <a:noFill/>
          <a:ln/>
        </p:spPr>
        <p:txBody>
          <a:bodyPr wrap="square" lIns="0" tIns="0" rIns="0" bIns="0" rtlCol="0" anchor="t"/>
          <a:lstStyle/>
          <a:p>
            <a:pPr indent="0" marL="0">
              <a:buNone/>
            </a:pPr>
            <a:r>
              <a:rPr lang="en-US" sz="2000" b="1" dirty="0">
                <a:solidFill>
                  <a:schemeClr val="tx2"/>
                </a:solidFill>
              </a:rPr>
              <a:t>Evidence-linked</a:t>
            </a:r>
            <a:endParaRPr lang="en-US" sz="2000" dirty="0"/>
          </a:p>
        </p:txBody>
      </p:sp>
      <p:sp>
        <p:nvSpPr>
          <p:cNvPr id="18" name="Capability body 1"/>
          <p:cNvSpPr txBox="1"/>
          <p:nvPr/>
        </p:nvSpPr>
        <p:spPr>
          <a:xfrm>
            <a:off x="8046720" y="2331720"/>
            <a:ext cx="3566160" cy="731520"/>
          </a:xfrm>
          <a:prstGeom prst="rect">
            <a:avLst/>
          </a:prstGeom>
          <a:noFill/>
          <a:ln/>
        </p:spPr>
        <p:txBody>
          <a:bodyPr wrap="square" lIns="0" tIns="0" rIns="0" bIns="0" rtlCol="0" anchor="t"/>
          <a:lstStyle/>
          <a:p>
            <a:pPr indent="0" marL="0">
              <a:buNone/>
            </a:pPr>
            <a:r>
              <a:rPr lang="en-US" sz="1500" dirty="0">
                <a:solidFill>
                  <a:schemeClr val="tx1"/>
                </a:solidFill>
              </a:rPr>
              <a:t>Every finding quotes the exact clause it comes from.</a:t>
            </a:r>
            <a:endParaRPr lang="en-US" sz="1500" dirty="0"/>
          </a:p>
        </p:txBody>
      </p:sp>
      <p:sp>
        <p:nvSpPr>
          <p:cNvPr id="19" name="Capability 2 circle"/>
          <p:cNvSpPr/>
          <p:nvPr/>
        </p:nvSpPr>
        <p:spPr>
          <a:xfrm>
            <a:off x="7040880" y="3337560"/>
            <a:ext cx="777240" cy="777240"/>
          </a:xfrm>
          <a:prstGeom prst="ellipse">
            <a:avLst/>
          </a:prstGeom>
          <a:solidFill>
            <a:schemeClr val="accent1"/>
          </a:solidFill>
          <a:ln/>
        </p:spPr>
      </p:sp>
      <p:pic>
        <p:nvPicPr>
          <p:cNvPr id="20" name="Capability 2 icon" descr="Capability 2 icon">    </p:cNvPr>
          <p:cNvPicPr>
            <a:picLocks noChangeAspect="1"/>
          </p:cNvPicPr>
          <p:nvPr/>
        </p:nvPicPr>
        <p:blipFill>
          <a:blip r:embed="rId2"/>
          <a:stretch>
            <a:fillRect/>
          </a:stretch>
        </p:blipFill>
        <p:spPr>
          <a:xfrm>
            <a:off x="7235190" y="3531870"/>
            <a:ext cx="388620" cy="388620"/>
          </a:xfrm>
          <a:prstGeom prst="rect">
            <a:avLst/>
          </a:prstGeom>
        </p:spPr>
      </p:pic>
      <p:sp>
        <p:nvSpPr>
          <p:cNvPr id="21" name="Capability title 2"/>
          <p:cNvSpPr txBox="1"/>
          <p:nvPr/>
        </p:nvSpPr>
        <p:spPr>
          <a:xfrm>
            <a:off x="8046720" y="3355848"/>
            <a:ext cx="3566160" cy="365760"/>
          </a:xfrm>
          <a:prstGeom prst="rect">
            <a:avLst/>
          </a:prstGeom>
          <a:noFill/>
          <a:ln/>
        </p:spPr>
        <p:txBody>
          <a:bodyPr wrap="square" lIns="0" tIns="0" rIns="0" bIns="0" rtlCol="0" anchor="t"/>
          <a:lstStyle/>
          <a:p>
            <a:pPr indent="0" marL="0">
              <a:buNone/>
            </a:pPr>
            <a:r>
              <a:rPr lang="en-US" sz="2000" b="1" dirty="0">
                <a:solidFill>
                  <a:schemeClr val="tx2"/>
                </a:solidFill>
              </a:rPr>
              <a:t>Plain English first</a:t>
            </a:r>
            <a:endParaRPr lang="en-US" sz="2000" dirty="0"/>
          </a:p>
        </p:txBody>
      </p:sp>
      <p:sp>
        <p:nvSpPr>
          <p:cNvPr id="22" name="Capability body 2"/>
          <p:cNvSpPr txBox="1"/>
          <p:nvPr/>
        </p:nvSpPr>
        <p:spPr>
          <a:xfrm>
            <a:off x="8046720" y="3749040"/>
            <a:ext cx="3566160" cy="731520"/>
          </a:xfrm>
          <a:prstGeom prst="rect">
            <a:avLst/>
          </a:prstGeom>
          <a:noFill/>
          <a:ln/>
        </p:spPr>
        <p:txBody>
          <a:bodyPr wrap="square" lIns="0" tIns="0" rIns="0" bIns="0" rtlCol="0" anchor="t"/>
          <a:lstStyle/>
          <a:p>
            <a:pPr indent="0" marL="0">
              <a:buNone/>
            </a:pPr>
            <a:r>
              <a:rPr lang="en-US" sz="1500" dirty="0">
                <a:solidFill>
                  <a:schemeClr val="tx1"/>
                </a:solidFill>
              </a:rPr>
              <a:t>What it means for you, what could happen, what to do.</a:t>
            </a:r>
            <a:endParaRPr lang="en-US" sz="1500" dirty="0"/>
          </a:p>
        </p:txBody>
      </p:sp>
      <p:sp>
        <p:nvSpPr>
          <p:cNvPr id="23" name="Capability 3 circle"/>
          <p:cNvSpPr/>
          <p:nvPr/>
        </p:nvSpPr>
        <p:spPr>
          <a:xfrm>
            <a:off x="7040880" y="4754880"/>
            <a:ext cx="777240" cy="777240"/>
          </a:xfrm>
          <a:prstGeom prst="ellipse">
            <a:avLst/>
          </a:prstGeom>
          <a:solidFill>
            <a:schemeClr val="accent1"/>
          </a:solidFill>
          <a:ln/>
        </p:spPr>
      </p:sp>
      <p:pic>
        <p:nvPicPr>
          <p:cNvPr id="24" name="Capability 3 icon" descr="Capability 3 icon">    </p:cNvPr>
          <p:cNvPicPr>
            <a:picLocks noChangeAspect="1"/>
          </p:cNvPicPr>
          <p:nvPr/>
        </p:nvPicPr>
        <p:blipFill>
          <a:blip r:embed="rId3"/>
          <a:stretch>
            <a:fillRect/>
          </a:stretch>
        </p:blipFill>
        <p:spPr>
          <a:xfrm>
            <a:off x="7235190" y="4949190"/>
            <a:ext cx="388620" cy="388620"/>
          </a:xfrm>
          <a:prstGeom prst="rect">
            <a:avLst/>
          </a:prstGeom>
        </p:spPr>
      </p:pic>
      <p:sp>
        <p:nvSpPr>
          <p:cNvPr id="25" name="Capability title 3"/>
          <p:cNvSpPr txBox="1"/>
          <p:nvPr/>
        </p:nvSpPr>
        <p:spPr>
          <a:xfrm>
            <a:off x="8046720" y="4773168"/>
            <a:ext cx="3566160" cy="365760"/>
          </a:xfrm>
          <a:prstGeom prst="rect">
            <a:avLst/>
          </a:prstGeom>
          <a:noFill/>
          <a:ln/>
        </p:spPr>
        <p:txBody>
          <a:bodyPr wrap="square" lIns="0" tIns="0" rIns="0" bIns="0" rtlCol="0" anchor="t"/>
          <a:lstStyle/>
          <a:p>
            <a:pPr indent="0" marL="0">
              <a:buNone/>
            </a:pPr>
            <a:r>
              <a:rPr lang="en-US" sz="2000" b="1" dirty="0">
                <a:solidFill>
                  <a:schemeClr val="tx2"/>
                </a:solidFill>
              </a:rPr>
              <a:t>Citation-backed</a:t>
            </a:r>
            <a:endParaRPr lang="en-US" sz="2000" dirty="0"/>
          </a:p>
        </p:txBody>
      </p:sp>
      <p:sp>
        <p:nvSpPr>
          <p:cNvPr id="26" name="Capability body 3"/>
          <p:cNvSpPr txBox="1"/>
          <p:nvPr/>
        </p:nvSpPr>
        <p:spPr>
          <a:xfrm>
            <a:off x="8046720" y="5166360"/>
            <a:ext cx="3566160" cy="731520"/>
          </a:xfrm>
          <a:prstGeom prst="rect">
            <a:avLst/>
          </a:prstGeom>
          <a:noFill/>
          <a:ln/>
        </p:spPr>
        <p:txBody>
          <a:bodyPr wrap="square" lIns="0" tIns="0" rIns="0" bIns="0" rtlCol="0" anchor="t"/>
          <a:lstStyle/>
          <a:p>
            <a:pPr indent="0" marL="0">
              <a:buNone/>
            </a:pPr>
            <a:r>
              <a:rPr lang="en-US" sz="1500" dirty="0">
                <a:solidFill>
                  <a:schemeClr val="tx1"/>
                </a:solidFill>
              </a:rPr>
              <a:t>Links to India Code, EUR-Lex and the UAE Legal Portal.</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Four steps from upload to report</a:t>
            </a:r>
            <a:endParaRPr lang="en-US" sz="3600" dirty="0"/>
          </a:p>
        </p:txBody>
      </p:sp>
      <p:sp>
        <p:nvSpPr>
          <p:cNvPr id="3" name="Step card 1"/>
          <p:cNvSpPr/>
          <p:nvPr/>
        </p:nvSpPr>
        <p:spPr>
          <a:xfrm>
            <a:off x="594360" y="1737360"/>
            <a:ext cx="2468880" cy="3566160"/>
          </a:xfrm>
          <a:prstGeom prst="roundRect">
            <a:avLst>
              <a:gd name="adj" fmla="val 4444"/>
            </a:avLst>
          </a:prstGeom>
          <a:solidFill>
            <a:schemeClr val="bg2"/>
          </a:solidFill>
          <a:ln/>
        </p:spPr>
      </p:sp>
      <p:sp>
        <p:nvSpPr>
          <p:cNvPr id="4" name="Step 1 circle"/>
          <p:cNvSpPr/>
          <p:nvPr/>
        </p:nvSpPr>
        <p:spPr>
          <a:xfrm>
            <a:off x="868680" y="2011680"/>
            <a:ext cx="822960" cy="822960"/>
          </a:xfrm>
          <a:prstGeom prst="ellipse">
            <a:avLst/>
          </a:prstGeom>
          <a:solidFill>
            <a:schemeClr val="accent1"/>
          </a:solidFill>
          <a:ln/>
        </p:spPr>
      </p:sp>
      <p:pic>
        <p:nvPicPr>
          <p:cNvPr id="5" name="Step 1 icon" descr="Step 1 icon">    </p:cNvPr>
          <p:cNvPicPr>
            <a:picLocks noChangeAspect="1"/>
          </p:cNvPicPr>
          <p:nvPr/>
        </p:nvPicPr>
        <p:blipFill>
          <a:blip r:embed="rId1"/>
          <a:stretch>
            <a:fillRect/>
          </a:stretch>
        </p:blipFill>
        <p:spPr>
          <a:xfrm>
            <a:off x="1074420" y="2217420"/>
            <a:ext cx="411480" cy="411480"/>
          </a:xfrm>
          <a:prstGeom prst="rect">
            <a:avLst/>
          </a:prstGeom>
        </p:spPr>
      </p:pic>
      <p:sp>
        <p:nvSpPr>
          <p:cNvPr id="6" name="Step label 1"/>
          <p:cNvSpPr txBox="1"/>
          <p:nvPr/>
        </p:nvSpPr>
        <p:spPr>
          <a:xfrm>
            <a:off x="868680" y="3063240"/>
            <a:ext cx="1920240" cy="274320"/>
          </a:xfrm>
          <a:prstGeom prst="rect">
            <a:avLst/>
          </a:prstGeom>
          <a:noFill/>
          <a:ln/>
        </p:spPr>
        <p:txBody>
          <a:bodyPr wrap="square" lIns="0" tIns="0" rIns="0" bIns="0" rtlCol="0" anchor="t"/>
          <a:lstStyle/>
          <a:p>
            <a:pPr indent="0" marL="0">
              <a:buNone/>
            </a:pPr>
            <a:r>
              <a:rPr lang="en-US" sz="1200" b="1" dirty="0">
                <a:solidFill>
                  <a:schemeClr val="accent1"/>
                </a:solidFill>
              </a:rPr>
              <a:t>STEP 1</a:t>
            </a:r>
            <a:endParaRPr lang="en-US" sz="1200" dirty="0"/>
          </a:p>
        </p:txBody>
      </p:sp>
      <p:sp>
        <p:nvSpPr>
          <p:cNvPr id="7" name="Step title 1"/>
          <p:cNvSpPr txBox="1"/>
          <p:nvPr/>
        </p:nvSpPr>
        <p:spPr>
          <a:xfrm>
            <a:off x="868680" y="3383280"/>
            <a:ext cx="2011680" cy="685800"/>
          </a:xfrm>
          <a:prstGeom prst="rect">
            <a:avLst/>
          </a:prstGeom>
          <a:noFill/>
          <a:ln/>
        </p:spPr>
        <p:txBody>
          <a:bodyPr wrap="square" lIns="0" tIns="0" rIns="0" bIns="0" rtlCol="0" anchor="t"/>
          <a:lstStyle/>
          <a:p>
            <a:pPr indent="0" marL="0">
              <a:buNone/>
            </a:pPr>
            <a:r>
              <a:rPr lang="en-US" sz="2000" b="1" dirty="0">
                <a:solidFill>
                  <a:schemeClr val="tx2"/>
                </a:solidFill>
              </a:rPr>
              <a:t>Upload Document</a:t>
            </a:r>
            <a:endParaRPr lang="en-US" sz="2000" dirty="0"/>
          </a:p>
        </p:txBody>
      </p:sp>
      <p:sp>
        <p:nvSpPr>
          <p:cNvPr id="8" name="Step body 1"/>
          <p:cNvSpPr txBox="1"/>
          <p:nvPr/>
        </p:nvSpPr>
        <p:spPr>
          <a:xfrm>
            <a:off x="868680" y="4160520"/>
            <a:ext cx="2011680" cy="1005840"/>
          </a:xfrm>
          <a:prstGeom prst="rect">
            <a:avLst/>
          </a:prstGeom>
          <a:noFill/>
          <a:ln/>
        </p:spPr>
        <p:txBody>
          <a:bodyPr wrap="square" lIns="0" tIns="0" rIns="0" bIns="0" rtlCol="0" anchor="t"/>
          <a:lstStyle/>
          <a:p>
            <a:pPr indent="0" marL="0">
              <a:buNone/>
            </a:pPr>
            <a:r>
              <a:rPr lang="en-US" sz="1500" dirty="0">
                <a:solidFill>
                  <a:schemeClr val="tx1"/>
                </a:solidFill>
              </a:rPr>
              <a:t>Add a TXT or PDF and choose India, EU GDPR or UAE.</a:t>
            </a:r>
            <a:endParaRPr lang="en-US" sz="1500" dirty="0"/>
          </a:p>
        </p:txBody>
      </p:sp>
      <p:sp>
        <p:nvSpPr>
          <p:cNvPr id="9" name="Arrow 1"/>
          <p:cNvSpPr/>
          <p:nvPr/>
        </p:nvSpPr>
        <p:spPr>
          <a:xfrm>
            <a:off x="3118104" y="2286000"/>
            <a:ext cx="256032" cy="274320"/>
          </a:xfrm>
          <a:prstGeom prst="rightArrow">
            <a:avLst/>
          </a:prstGeom>
          <a:solidFill>
            <a:schemeClr val="accent1"/>
          </a:solidFill>
          <a:ln/>
        </p:spPr>
      </p:sp>
      <p:sp>
        <p:nvSpPr>
          <p:cNvPr id="10" name="Step card 2"/>
          <p:cNvSpPr/>
          <p:nvPr/>
        </p:nvSpPr>
        <p:spPr>
          <a:xfrm>
            <a:off x="3429000" y="1737360"/>
            <a:ext cx="2468880" cy="3566160"/>
          </a:xfrm>
          <a:prstGeom prst="roundRect">
            <a:avLst>
              <a:gd name="adj" fmla="val 4444"/>
            </a:avLst>
          </a:prstGeom>
          <a:solidFill>
            <a:schemeClr val="bg2"/>
          </a:solidFill>
          <a:ln/>
        </p:spPr>
      </p:sp>
      <p:sp>
        <p:nvSpPr>
          <p:cNvPr id="11" name="Step 2 circle"/>
          <p:cNvSpPr/>
          <p:nvPr/>
        </p:nvSpPr>
        <p:spPr>
          <a:xfrm>
            <a:off x="3703320" y="2011680"/>
            <a:ext cx="822960" cy="822960"/>
          </a:xfrm>
          <a:prstGeom prst="ellipse">
            <a:avLst/>
          </a:prstGeom>
          <a:solidFill>
            <a:schemeClr val="accent1"/>
          </a:solidFill>
          <a:ln/>
        </p:spPr>
      </p:sp>
      <p:pic>
        <p:nvPicPr>
          <p:cNvPr id="12" name="Step 2 icon" descr="Step 2 icon">    </p:cNvPr>
          <p:cNvPicPr>
            <a:picLocks noChangeAspect="1"/>
          </p:cNvPicPr>
          <p:nvPr/>
        </p:nvPicPr>
        <p:blipFill>
          <a:blip r:embed="rId2"/>
          <a:stretch>
            <a:fillRect/>
          </a:stretch>
        </p:blipFill>
        <p:spPr>
          <a:xfrm>
            <a:off x="3909060" y="2217420"/>
            <a:ext cx="411480" cy="411480"/>
          </a:xfrm>
          <a:prstGeom prst="rect">
            <a:avLst/>
          </a:prstGeom>
        </p:spPr>
      </p:pic>
      <p:sp>
        <p:nvSpPr>
          <p:cNvPr id="13" name="Step label 2"/>
          <p:cNvSpPr txBox="1"/>
          <p:nvPr/>
        </p:nvSpPr>
        <p:spPr>
          <a:xfrm>
            <a:off x="3703320" y="3063240"/>
            <a:ext cx="1920240" cy="274320"/>
          </a:xfrm>
          <a:prstGeom prst="rect">
            <a:avLst/>
          </a:prstGeom>
          <a:noFill/>
          <a:ln/>
        </p:spPr>
        <p:txBody>
          <a:bodyPr wrap="square" lIns="0" tIns="0" rIns="0" bIns="0" rtlCol="0" anchor="t"/>
          <a:lstStyle/>
          <a:p>
            <a:pPr indent="0" marL="0">
              <a:buNone/>
            </a:pPr>
            <a:r>
              <a:rPr lang="en-US" sz="1200" b="1" dirty="0">
                <a:solidFill>
                  <a:schemeClr val="accent1"/>
                </a:solidFill>
              </a:rPr>
              <a:t>STEP 2</a:t>
            </a:r>
            <a:endParaRPr lang="en-US" sz="1200" dirty="0"/>
          </a:p>
        </p:txBody>
      </p:sp>
      <p:sp>
        <p:nvSpPr>
          <p:cNvPr id="14" name="Step title 2"/>
          <p:cNvSpPr txBox="1"/>
          <p:nvPr/>
        </p:nvSpPr>
        <p:spPr>
          <a:xfrm>
            <a:off x="3703320" y="3383280"/>
            <a:ext cx="2011680" cy="685800"/>
          </a:xfrm>
          <a:prstGeom prst="rect">
            <a:avLst/>
          </a:prstGeom>
          <a:noFill/>
          <a:ln/>
        </p:spPr>
        <p:txBody>
          <a:bodyPr wrap="square" lIns="0" tIns="0" rIns="0" bIns="0" rtlCol="0" anchor="t"/>
          <a:lstStyle/>
          <a:p>
            <a:pPr indent="0" marL="0">
              <a:buNone/>
            </a:pPr>
            <a:r>
              <a:rPr lang="en-US" sz="2000" b="1" dirty="0">
                <a:solidFill>
                  <a:schemeClr val="tx2"/>
                </a:solidFill>
              </a:rPr>
              <a:t>Executive Summary</a:t>
            </a:r>
            <a:endParaRPr lang="en-US" sz="2000" dirty="0"/>
          </a:p>
        </p:txBody>
      </p:sp>
      <p:sp>
        <p:nvSpPr>
          <p:cNvPr id="15" name="Step body 2"/>
          <p:cNvSpPr txBox="1"/>
          <p:nvPr/>
        </p:nvSpPr>
        <p:spPr>
          <a:xfrm>
            <a:off x="3703320" y="4160520"/>
            <a:ext cx="2011680" cy="1005840"/>
          </a:xfrm>
          <a:prstGeom prst="rect">
            <a:avLst/>
          </a:prstGeom>
          <a:noFill/>
          <a:ln/>
        </p:spPr>
        <p:txBody>
          <a:bodyPr wrap="square" lIns="0" tIns="0" rIns="0" bIns="0" rtlCol="0" anchor="t"/>
          <a:lstStyle/>
          <a:p>
            <a:pPr indent="0" marL="0">
              <a:buNone/>
            </a:pPr>
            <a:r>
              <a:rPr lang="en-US" sz="1500" dirty="0">
                <a:solidFill>
                  <a:schemeClr val="tx1"/>
                </a:solidFill>
              </a:rPr>
              <a:t>See the risk score and top issues in plain English.</a:t>
            </a:r>
            <a:endParaRPr lang="en-US" sz="1500" dirty="0"/>
          </a:p>
        </p:txBody>
      </p:sp>
      <p:sp>
        <p:nvSpPr>
          <p:cNvPr id="16" name="Arrow 2"/>
          <p:cNvSpPr/>
          <p:nvPr/>
        </p:nvSpPr>
        <p:spPr>
          <a:xfrm>
            <a:off x="5952744" y="2286000"/>
            <a:ext cx="256032" cy="274320"/>
          </a:xfrm>
          <a:prstGeom prst="rightArrow">
            <a:avLst/>
          </a:prstGeom>
          <a:solidFill>
            <a:schemeClr val="accent1"/>
          </a:solidFill>
          <a:ln/>
        </p:spPr>
      </p:sp>
      <p:sp>
        <p:nvSpPr>
          <p:cNvPr id="17" name="Step card 3"/>
          <p:cNvSpPr/>
          <p:nvPr/>
        </p:nvSpPr>
        <p:spPr>
          <a:xfrm>
            <a:off x="6263640" y="1737360"/>
            <a:ext cx="2468880" cy="3566160"/>
          </a:xfrm>
          <a:prstGeom prst="roundRect">
            <a:avLst>
              <a:gd name="adj" fmla="val 4444"/>
            </a:avLst>
          </a:prstGeom>
          <a:solidFill>
            <a:schemeClr val="bg2"/>
          </a:solidFill>
          <a:ln/>
        </p:spPr>
      </p:sp>
      <p:sp>
        <p:nvSpPr>
          <p:cNvPr id="18" name="Step 3 circle"/>
          <p:cNvSpPr/>
          <p:nvPr/>
        </p:nvSpPr>
        <p:spPr>
          <a:xfrm>
            <a:off x="6537960" y="2011680"/>
            <a:ext cx="822960" cy="822960"/>
          </a:xfrm>
          <a:prstGeom prst="ellipse">
            <a:avLst/>
          </a:prstGeom>
          <a:solidFill>
            <a:schemeClr val="accent1"/>
          </a:solidFill>
          <a:ln/>
        </p:spPr>
      </p:sp>
      <p:pic>
        <p:nvPicPr>
          <p:cNvPr id="19" name="Step 3 icon" descr="Step 3 icon">    </p:cNvPr>
          <p:cNvPicPr>
            <a:picLocks noChangeAspect="1"/>
          </p:cNvPicPr>
          <p:nvPr/>
        </p:nvPicPr>
        <p:blipFill>
          <a:blip r:embed="rId3"/>
          <a:stretch>
            <a:fillRect/>
          </a:stretch>
        </p:blipFill>
        <p:spPr>
          <a:xfrm>
            <a:off x="6743700" y="2217420"/>
            <a:ext cx="411480" cy="411480"/>
          </a:xfrm>
          <a:prstGeom prst="rect">
            <a:avLst/>
          </a:prstGeom>
        </p:spPr>
      </p:pic>
      <p:sp>
        <p:nvSpPr>
          <p:cNvPr id="20" name="Step label 3"/>
          <p:cNvSpPr txBox="1"/>
          <p:nvPr/>
        </p:nvSpPr>
        <p:spPr>
          <a:xfrm>
            <a:off x="6537960" y="3063240"/>
            <a:ext cx="1920240" cy="274320"/>
          </a:xfrm>
          <a:prstGeom prst="rect">
            <a:avLst/>
          </a:prstGeom>
          <a:noFill/>
          <a:ln/>
        </p:spPr>
        <p:txBody>
          <a:bodyPr wrap="square" lIns="0" tIns="0" rIns="0" bIns="0" rtlCol="0" anchor="t"/>
          <a:lstStyle/>
          <a:p>
            <a:pPr indent="0" marL="0">
              <a:buNone/>
            </a:pPr>
            <a:r>
              <a:rPr lang="en-US" sz="1200" b="1" dirty="0">
                <a:solidFill>
                  <a:schemeClr val="accent1"/>
                </a:solidFill>
              </a:rPr>
              <a:t>STEP 3</a:t>
            </a:r>
            <a:endParaRPr lang="en-US" sz="1200" dirty="0"/>
          </a:p>
        </p:txBody>
      </p:sp>
      <p:sp>
        <p:nvSpPr>
          <p:cNvPr id="21" name="Step title 3"/>
          <p:cNvSpPr txBox="1"/>
          <p:nvPr/>
        </p:nvSpPr>
        <p:spPr>
          <a:xfrm>
            <a:off x="6537960" y="3383280"/>
            <a:ext cx="2011680" cy="685800"/>
          </a:xfrm>
          <a:prstGeom prst="rect">
            <a:avLst/>
          </a:prstGeom>
          <a:noFill/>
          <a:ln/>
        </p:spPr>
        <p:txBody>
          <a:bodyPr wrap="square" lIns="0" tIns="0" rIns="0" bIns="0" rtlCol="0" anchor="t"/>
          <a:lstStyle/>
          <a:p>
            <a:pPr indent="0" marL="0">
              <a:buNone/>
            </a:pPr>
            <a:r>
              <a:rPr lang="en-US" sz="2000" b="1" dirty="0">
                <a:solidFill>
                  <a:schemeClr val="tx2"/>
                </a:solidFill>
              </a:rPr>
              <a:t>Issues &amp; Fixes</a:t>
            </a:r>
            <a:endParaRPr lang="en-US" sz="2000" dirty="0"/>
          </a:p>
        </p:txBody>
      </p:sp>
      <p:sp>
        <p:nvSpPr>
          <p:cNvPr id="22" name="Step body 3"/>
          <p:cNvSpPr txBox="1"/>
          <p:nvPr/>
        </p:nvSpPr>
        <p:spPr>
          <a:xfrm>
            <a:off x="6537960" y="4160520"/>
            <a:ext cx="2011680" cy="1005840"/>
          </a:xfrm>
          <a:prstGeom prst="rect">
            <a:avLst/>
          </a:prstGeom>
          <a:noFill/>
          <a:ln/>
        </p:spPr>
        <p:txBody>
          <a:bodyPr wrap="square" lIns="0" tIns="0" rIns="0" bIns="0" rtlCol="0" anchor="t"/>
          <a:lstStyle/>
          <a:p>
            <a:pPr indent="0" marL="0">
              <a:buNone/>
            </a:pPr>
            <a:r>
              <a:rPr lang="en-US" sz="1500" dirty="0">
                <a:solidFill>
                  <a:schemeClr val="tx1"/>
                </a:solidFill>
              </a:rPr>
              <a:t>Read the evidence, compare three wordings, apply a fix.</a:t>
            </a:r>
            <a:endParaRPr lang="en-US" sz="1500" dirty="0"/>
          </a:p>
        </p:txBody>
      </p:sp>
      <p:sp>
        <p:nvSpPr>
          <p:cNvPr id="23" name="Arrow 3"/>
          <p:cNvSpPr/>
          <p:nvPr/>
        </p:nvSpPr>
        <p:spPr>
          <a:xfrm>
            <a:off x="8787384" y="2286000"/>
            <a:ext cx="256032" cy="274320"/>
          </a:xfrm>
          <a:prstGeom prst="rightArrow">
            <a:avLst/>
          </a:prstGeom>
          <a:solidFill>
            <a:schemeClr val="accent1"/>
          </a:solidFill>
          <a:ln/>
        </p:spPr>
      </p:sp>
      <p:sp>
        <p:nvSpPr>
          <p:cNvPr id="24" name="Step card 4"/>
          <p:cNvSpPr/>
          <p:nvPr/>
        </p:nvSpPr>
        <p:spPr>
          <a:xfrm>
            <a:off x="9098280" y="1737360"/>
            <a:ext cx="2468880" cy="3566160"/>
          </a:xfrm>
          <a:prstGeom prst="roundRect">
            <a:avLst>
              <a:gd name="adj" fmla="val 4444"/>
            </a:avLst>
          </a:prstGeom>
          <a:solidFill>
            <a:schemeClr val="bg2"/>
          </a:solidFill>
          <a:ln/>
        </p:spPr>
      </p:sp>
      <p:sp>
        <p:nvSpPr>
          <p:cNvPr id="25" name="Step 4 circle"/>
          <p:cNvSpPr/>
          <p:nvPr/>
        </p:nvSpPr>
        <p:spPr>
          <a:xfrm>
            <a:off x="9372600" y="2011680"/>
            <a:ext cx="822960" cy="822960"/>
          </a:xfrm>
          <a:prstGeom prst="ellipse">
            <a:avLst/>
          </a:prstGeom>
          <a:solidFill>
            <a:schemeClr val="accent1"/>
          </a:solidFill>
          <a:ln/>
        </p:spPr>
      </p:sp>
      <p:pic>
        <p:nvPicPr>
          <p:cNvPr id="26" name="Step 4 icon" descr="Step 4 icon">    </p:cNvPr>
          <p:cNvPicPr>
            <a:picLocks noChangeAspect="1"/>
          </p:cNvPicPr>
          <p:nvPr/>
        </p:nvPicPr>
        <p:blipFill>
          <a:blip r:embed="rId4"/>
          <a:stretch>
            <a:fillRect/>
          </a:stretch>
        </p:blipFill>
        <p:spPr>
          <a:xfrm>
            <a:off x="9578340" y="2217420"/>
            <a:ext cx="411480" cy="411480"/>
          </a:xfrm>
          <a:prstGeom prst="rect">
            <a:avLst/>
          </a:prstGeom>
        </p:spPr>
      </p:pic>
      <p:sp>
        <p:nvSpPr>
          <p:cNvPr id="27" name="Step label 4"/>
          <p:cNvSpPr txBox="1"/>
          <p:nvPr/>
        </p:nvSpPr>
        <p:spPr>
          <a:xfrm>
            <a:off x="9372600" y="3063240"/>
            <a:ext cx="1920240" cy="274320"/>
          </a:xfrm>
          <a:prstGeom prst="rect">
            <a:avLst/>
          </a:prstGeom>
          <a:noFill/>
          <a:ln/>
        </p:spPr>
        <p:txBody>
          <a:bodyPr wrap="square" lIns="0" tIns="0" rIns="0" bIns="0" rtlCol="0" anchor="t"/>
          <a:lstStyle/>
          <a:p>
            <a:pPr indent="0" marL="0">
              <a:buNone/>
            </a:pPr>
            <a:r>
              <a:rPr lang="en-US" sz="1200" b="1" dirty="0">
                <a:solidFill>
                  <a:schemeClr val="accent1"/>
                </a:solidFill>
              </a:rPr>
              <a:t>STEP 4</a:t>
            </a:r>
            <a:endParaRPr lang="en-US" sz="1200" dirty="0"/>
          </a:p>
        </p:txBody>
      </p:sp>
      <p:sp>
        <p:nvSpPr>
          <p:cNvPr id="28" name="Step title 4"/>
          <p:cNvSpPr txBox="1"/>
          <p:nvPr/>
        </p:nvSpPr>
        <p:spPr>
          <a:xfrm>
            <a:off x="9372600" y="3383280"/>
            <a:ext cx="2011680" cy="685800"/>
          </a:xfrm>
          <a:prstGeom prst="rect">
            <a:avLst/>
          </a:prstGeom>
          <a:noFill/>
          <a:ln/>
        </p:spPr>
        <p:txBody>
          <a:bodyPr wrap="square" lIns="0" tIns="0" rIns="0" bIns="0" rtlCol="0" anchor="t"/>
          <a:lstStyle/>
          <a:p>
            <a:pPr indent="0" marL="0">
              <a:buNone/>
            </a:pPr>
            <a:r>
              <a:rPr lang="en-US" sz="2000" b="1" dirty="0">
                <a:solidFill>
                  <a:schemeClr val="tx2"/>
                </a:solidFill>
              </a:rPr>
              <a:t>Report Export</a:t>
            </a:r>
            <a:endParaRPr lang="en-US" sz="2000" dirty="0"/>
          </a:p>
        </p:txBody>
      </p:sp>
      <p:sp>
        <p:nvSpPr>
          <p:cNvPr id="29" name="Step body 4"/>
          <p:cNvSpPr txBox="1"/>
          <p:nvPr/>
        </p:nvSpPr>
        <p:spPr>
          <a:xfrm>
            <a:off x="9372600" y="4160520"/>
            <a:ext cx="2011680" cy="1005840"/>
          </a:xfrm>
          <a:prstGeom prst="rect">
            <a:avLst/>
          </a:prstGeom>
          <a:noFill/>
          <a:ln/>
        </p:spPr>
        <p:txBody>
          <a:bodyPr wrap="square" lIns="0" tIns="0" rIns="0" bIns="0" rtlCol="0" anchor="t"/>
          <a:lstStyle/>
          <a:p>
            <a:pPr indent="0" marL="0">
              <a:buNone/>
            </a:pPr>
            <a:r>
              <a:rPr lang="en-US" sz="1500" dirty="0">
                <a:solidFill>
                  <a:schemeClr val="tx1"/>
                </a:solidFill>
              </a:rPr>
              <a:t>Download a shareable executive review report.</a:t>
            </a:r>
            <a:endParaRPr lang="en-US" sz="1500" dirty="0"/>
          </a:p>
        </p:txBody>
      </p:sp>
      <p:sp>
        <p:nvSpPr>
          <p:cNvPr id="30" name="Takeaway"/>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2000" b="1" dirty="0">
                <a:solidFill>
                  <a:schemeClr val="tx2"/>
                </a:solidFill>
              </a:rPr>
              <a:t>From signature panic to negotiation plan in minutes.</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Evidence, not generic advice</a:t>
            </a:r>
            <a:endParaRPr lang="en-US" sz="3600" dirty="0"/>
          </a:p>
        </p:txBody>
      </p:sp>
      <p:sp>
        <p:nvSpPr>
          <p:cNvPr id="3" name="Generic card"/>
          <p:cNvSpPr/>
          <p:nvPr/>
        </p:nvSpPr>
        <p:spPr>
          <a:xfrm>
            <a:off x="548640" y="1463040"/>
            <a:ext cx="4937760" cy="4572000"/>
          </a:xfrm>
          <a:prstGeom prst="roundRect">
            <a:avLst>
              <a:gd name="adj" fmla="val 2400"/>
            </a:avLst>
          </a:prstGeom>
          <a:solidFill>
            <a:schemeClr val="bg2"/>
          </a:solidFill>
          <a:ln/>
        </p:spPr>
      </p:sp>
      <p:sp>
        <p:nvSpPr>
          <p:cNvPr id="4" name="Generic header"/>
          <p:cNvSpPr txBox="1"/>
          <p:nvPr/>
        </p:nvSpPr>
        <p:spPr>
          <a:xfrm>
            <a:off x="822960" y="1691640"/>
            <a:ext cx="4389120" cy="457200"/>
          </a:xfrm>
          <a:prstGeom prst="rect">
            <a:avLst/>
          </a:prstGeom>
          <a:noFill/>
          <a:ln/>
        </p:spPr>
        <p:txBody>
          <a:bodyPr wrap="square" lIns="0" tIns="0" rIns="0" bIns="0" rtlCol="0" anchor="t"/>
          <a:lstStyle/>
          <a:p>
            <a:pPr indent="0" marL="0">
              <a:buNone/>
            </a:pPr>
            <a:r>
              <a:rPr lang="en-US" sz="2400" b="1" dirty="0">
                <a:solidFill>
                  <a:schemeClr val="accent2"/>
                </a:solidFill>
              </a:rPr>
              <a:t>Generic AI chatbot</a:t>
            </a:r>
            <a:endParaRPr lang="en-US" sz="2400" dirty="0"/>
          </a:p>
        </p:txBody>
      </p:sp>
      <p:sp>
        <p:nvSpPr>
          <p:cNvPr id="5" name="Generic quote box"/>
          <p:cNvSpPr/>
          <p:nvPr/>
        </p:nvSpPr>
        <p:spPr>
          <a:xfrm>
            <a:off x="822960" y="2331720"/>
            <a:ext cx="4389120" cy="1371600"/>
          </a:xfrm>
          <a:prstGeom prst="roundRect">
            <a:avLst>
              <a:gd name="adj" fmla="val 8000"/>
            </a:avLst>
          </a:prstGeom>
          <a:solidFill>
            <a:schemeClr val="bg1"/>
          </a:solidFill>
          <a:ln/>
        </p:spPr>
      </p:sp>
      <p:sp>
        <p:nvSpPr>
          <p:cNvPr id="6" name="Generic quote"/>
          <p:cNvSpPr txBox="1"/>
          <p:nvPr/>
        </p:nvSpPr>
        <p:spPr>
          <a:xfrm>
            <a:off x="1005840" y="2468880"/>
            <a:ext cx="4023360" cy="1097280"/>
          </a:xfrm>
          <a:prstGeom prst="rect">
            <a:avLst/>
          </a:prstGeom>
          <a:noFill/>
          <a:ln/>
        </p:spPr>
        <p:txBody>
          <a:bodyPr wrap="square" lIns="0" tIns="0" rIns="0" bIns="0" rtlCol="0" anchor="ctr"/>
          <a:lstStyle/>
          <a:p>
            <a:pPr indent="0" marL="0">
              <a:buNone/>
            </a:pPr>
            <a:r>
              <a:rPr lang="en-US" sz="1600" i="1" dirty="0">
                <a:solidFill>
                  <a:schemeClr val="tx1"/>
                </a:solidFill>
              </a:rPr>
              <a:t>“Indemnification clauses can be risky. You may want to consult a lawyer and review relevant laws.”</a:t>
            </a:r>
            <a:endParaRPr lang="en-US" sz="1600" dirty="0"/>
          </a:p>
        </p:txBody>
      </p:sp>
      <p:pic>
        <p:nvPicPr>
          <p:cNvPr id="7" name="Bad icon 1" descr="Bad icon 1">    </p:cNvPr>
          <p:cNvPicPr>
            <a:picLocks noChangeAspect="1"/>
          </p:cNvPicPr>
          <p:nvPr/>
        </p:nvPicPr>
        <p:blipFill>
          <a:blip r:embed="rId1"/>
          <a:stretch>
            <a:fillRect/>
          </a:stretch>
        </p:blipFill>
        <p:spPr>
          <a:xfrm>
            <a:off x="868680" y="4050792"/>
            <a:ext cx="365760" cy="365760"/>
          </a:xfrm>
          <a:prstGeom prst="rect">
            <a:avLst/>
          </a:prstGeom>
        </p:spPr>
      </p:pic>
      <p:sp>
        <p:nvSpPr>
          <p:cNvPr id="8" name="Bad text 1"/>
          <p:cNvSpPr txBox="1"/>
          <p:nvPr/>
        </p:nvSpPr>
        <p:spPr>
          <a:xfrm>
            <a:off x="1417320" y="4023360"/>
            <a:ext cx="3657600" cy="411480"/>
          </a:xfrm>
          <a:prstGeom prst="rect">
            <a:avLst/>
          </a:prstGeom>
          <a:noFill/>
          <a:ln/>
        </p:spPr>
        <p:txBody>
          <a:bodyPr wrap="square" lIns="0" tIns="0" rIns="0" bIns="0" rtlCol="0" anchor="ctr"/>
          <a:lstStyle/>
          <a:p>
            <a:pPr indent="0" marL="0">
              <a:buNone/>
            </a:pPr>
            <a:r>
              <a:rPr lang="en-US" sz="1800" dirty="0">
                <a:solidFill>
                  <a:schemeClr val="tx1"/>
                </a:solidFill>
              </a:rPr>
              <a:t>No clause quoted</a:t>
            </a:r>
            <a:endParaRPr lang="en-US" sz="1800" dirty="0"/>
          </a:p>
        </p:txBody>
      </p:sp>
      <p:pic>
        <p:nvPicPr>
          <p:cNvPr id="9" name="Bad icon 2" descr="Bad icon 2">    </p:cNvPr>
          <p:cNvPicPr>
            <a:picLocks noChangeAspect="1"/>
          </p:cNvPicPr>
          <p:nvPr/>
        </p:nvPicPr>
        <p:blipFill>
          <a:blip r:embed="rId2"/>
          <a:stretch>
            <a:fillRect/>
          </a:stretch>
        </p:blipFill>
        <p:spPr>
          <a:xfrm>
            <a:off x="868680" y="4690872"/>
            <a:ext cx="365760" cy="365760"/>
          </a:xfrm>
          <a:prstGeom prst="rect">
            <a:avLst/>
          </a:prstGeom>
        </p:spPr>
      </p:pic>
      <p:sp>
        <p:nvSpPr>
          <p:cNvPr id="10" name="Bad text 2"/>
          <p:cNvSpPr txBox="1"/>
          <p:nvPr/>
        </p:nvSpPr>
        <p:spPr>
          <a:xfrm>
            <a:off x="1417320" y="4663440"/>
            <a:ext cx="3657600" cy="411480"/>
          </a:xfrm>
          <a:prstGeom prst="rect">
            <a:avLst/>
          </a:prstGeom>
          <a:noFill/>
          <a:ln/>
        </p:spPr>
        <p:txBody>
          <a:bodyPr wrap="square" lIns="0" tIns="0" rIns="0" bIns="0" rtlCol="0" anchor="ctr"/>
          <a:lstStyle/>
          <a:p>
            <a:pPr indent="0" marL="0">
              <a:buNone/>
            </a:pPr>
            <a:r>
              <a:rPr lang="en-US" sz="1800" dirty="0">
                <a:solidFill>
                  <a:schemeClr val="tx1"/>
                </a:solidFill>
              </a:rPr>
              <a:t>No verifiable citation</a:t>
            </a:r>
            <a:endParaRPr lang="en-US" sz="1800" dirty="0"/>
          </a:p>
        </p:txBody>
      </p:sp>
      <p:pic>
        <p:nvPicPr>
          <p:cNvPr id="11" name="Bad icon 3" descr="Bad icon 3">    </p:cNvPr>
          <p:cNvPicPr>
            <a:picLocks noChangeAspect="1"/>
          </p:cNvPicPr>
          <p:nvPr/>
        </p:nvPicPr>
        <p:blipFill>
          <a:blip r:embed="rId3"/>
          <a:stretch>
            <a:fillRect/>
          </a:stretch>
        </p:blipFill>
        <p:spPr>
          <a:xfrm>
            <a:off x="868680" y="5330952"/>
            <a:ext cx="365760" cy="365760"/>
          </a:xfrm>
          <a:prstGeom prst="rect">
            <a:avLst/>
          </a:prstGeom>
        </p:spPr>
      </p:pic>
      <p:sp>
        <p:nvSpPr>
          <p:cNvPr id="12" name="Bad text 3"/>
          <p:cNvSpPr txBox="1"/>
          <p:nvPr/>
        </p:nvSpPr>
        <p:spPr>
          <a:xfrm>
            <a:off x="1417320" y="5303520"/>
            <a:ext cx="3657600" cy="411480"/>
          </a:xfrm>
          <a:prstGeom prst="rect">
            <a:avLst/>
          </a:prstGeom>
          <a:noFill/>
          <a:ln/>
        </p:spPr>
        <p:txBody>
          <a:bodyPr wrap="square" lIns="0" tIns="0" rIns="0" bIns="0" rtlCol="0" anchor="ctr"/>
          <a:lstStyle/>
          <a:p>
            <a:pPr indent="0" marL="0">
              <a:buNone/>
            </a:pPr>
            <a:r>
              <a:rPr lang="en-US" sz="1800" dirty="0">
                <a:solidFill>
                  <a:schemeClr val="tx1"/>
                </a:solidFill>
              </a:rPr>
              <a:t>No fix you can use</a:t>
            </a:r>
            <a:endParaRPr lang="en-US" sz="1800" dirty="0"/>
          </a:p>
        </p:txBody>
      </p:sp>
      <p:sp>
        <p:nvSpPr>
          <p:cNvPr id="13" name="LexiShield card"/>
          <p:cNvSpPr/>
          <p:nvPr/>
        </p:nvSpPr>
        <p:spPr>
          <a:xfrm>
            <a:off x="5852160" y="1463040"/>
            <a:ext cx="5788152" cy="4572000"/>
          </a:xfrm>
          <a:prstGeom prst="roundRect">
            <a:avLst>
              <a:gd name="adj" fmla="val 2400"/>
            </a:avLst>
          </a:prstGeom>
          <a:solidFill>
            <a:schemeClr val="bg2"/>
          </a:solidFill>
          <a:ln/>
        </p:spPr>
      </p:sp>
      <p:sp>
        <p:nvSpPr>
          <p:cNvPr id="14" name="LexiShield header"/>
          <p:cNvSpPr txBox="1"/>
          <p:nvPr/>
        </p:nvSpPr>
        <p:spPr>
          <a:xfrm>
            <a:off x="6126480" y="1691640"/>
            <a:ext cx="5212080" cy="457200"/>
          </a:xfrm>
          <a:prstGeom prst="rect">
            <a:avLst/>
          </a:prstGeom>
          <a:noFill/>
          <a:ln/>
        </p:spPr>
        <p:txBody>
          <a:bodyPr wrap="square" lIns="0" tIns="0" rIns="0" bIns="0" rtlCol="0" anchor="t"/>
          <a:lstStyle/>
          <a:p>
            <a:pPr indent="0" marL="0">
              <a:buNone/>
            </a:pPr>
            <a:r>
              <a:rPr lang="en-US" sz="2400" b="1" dirty="0">
                <a:solidFill>
                  <a:schemeClr val="accent4"/>
                </a:solidFill>
              </a:rPr>
              <a:t>LexiShield AI</a:t>
            </a:r>
            <a:endParaRPr lang="en-US" sz="2400" dirty="0"/>
          </a:p>
        </p:txBody>
      </p:sp>
      <p:sp>
        <p:nvSpPr>
          <p:cNvPr id="15" name="Row label 1"/>
          <p:cNvSpPr/>
          <p:nvPr/>
        </p:nvSpPr>
        <p:spPr>
          <a:xfrm>
            <a:off x="6080760" y="2331720"/>
            <a:ext cx="1783080" cy="502920"/>
          </a:xfrm>
          <a:prstGeom prst="roundRect">
            <a:avLst>
              <a:gd name="adj" fmla="val 21818"/>
            </a:avLst>
          </a:prstGeom>
          <a:solidFill>
            <a:schemeClr val="accent1"/>
          </a:solidFill>
          <a:ln/>
        </p:spPr>
      </p:sp>
      <p:sp>
        <p:nvSpPr>
          <p:cNvPr id="16" name="Row label text 1"/>
          <p:cNvSpPr txBox="1"/>
          <p:nvPr/>
        </p:nvSpPr>
        <p:spPr>
          <a:xfrm>
            <a:off x="6080760" y="2331720"/>
            <a:ext cx="1783080" cy="502920"/>
          </a:xfrm>
          <a:prstGeom prst="rect">
            <a:avLst/>
          </a:prstGeom>
          <a:noFill/>
          <a:ln/>
        </p:spPr>
        <p:txBody>
          <a:bodyPr wrap="square" lIns="0" tIns="0" rIns="0" bIns="0" rtlCol="0" anchor="ctr"/>
          <a:lstStyle/>
          <a:p>
            <a:pPr algn="ctr" indent="0" marL="0">
              <a:buNone/>
            </a:pPr>
            <a:r>
              <a:rPr lang="en-US" sz="1200" b="1" dirty="0">
                <a:solidFill>
                  <a:schemeClr val="bg1"/>
                </a:solidFill>
              </a:rPr>
              <a:t>Plain title</a:t>
            </a:r>
            <a:endParaRPr lang="en-US" sz="1200" dirty="0"/>
          </a:p>
        </p:txBody>
      </p:sp>
      <p:sp>
        <p:nvSpPr>
          <p:cNvPr id="17" name="Row text 1"/>
          <p:cNvSpPr txBox="1"/>
          <p:nvPr/>
        </p:nvSpPr>
        <p:spPr>
          <a:xfrm>
            <a:off x="8046720" y="2286000"/>
            <a:ext cx="3429000" cy="640080"/>
          </a:xfrm>
          <a:prstGeom prst="rect">
            <a:avLst/>
          </a:prstGeom>
          <a:noFill/>
          <a:ln/>
        </p:spPr>
        <p:txBody>
          <a:bodyPr wrap="square" lIns="0" tIns="0" rIns="0" bIns="0" rtlCol="0" anchor="ctr"/>
          <a:lstStyle/>
          <a:p>
            <a:pPr indent="0" marL="0">
              <a:buNone/>
            </a:pPr>
            <a:r>
              <a:rPr lang="en-US" sz="1400" dirty="0">
                <a:solidFill>
                  <a:schemeClr val="tx1"/>
                </a:solidFill>
              </a:rPr>
              <a:t>You could be forced to pay unlimited costs</a:t>
            </a:r>
            <a:endParaRPr lang="en-US" sz="1400" dirty="0"/>
          </a:p>
        </p:txBody>
      </p:sp>
      <p:sp>
        <p:nvSpPr>
          <p:cNvPr id="18" name="Row label 2"/>
          <p:cNvSpPr/>
          <p:nvPr/>
        </p:nvSpPr>
        <p:spPr>
          <a:xfrm>
            <a:off x="6080760" y="3063240"/>
            <a:ext cx="1783080" cy="502920"/>
          </a:xfrm>
          <a:prstGeom prst="roundRect">
            <a:avLst>
              <a:gd name="adj" fmla="val 21818"/>
            </a:avLst>
          </a:prstGeom>
          <a:solidFill>
            <a:schemeClr val="accent1"/>
          </a:solidFill>
          <a:ln/>
        </p:spPr>
      </p:sp>
      <p:sp>
        <p:nvSpPr>
          <p:cNvPr id="19" name="Row label text 2"/>
          <p:cNvSpPr txBox="1"/>
          <p:nvPr/>
        </p:nvSpPr>
        <p:spPr>
          <a:xfrm>
            <a:off x="6080760" y="3063240"/>
            <a:ext cx="1783080" cy="502920"/>
          </a:xfrm>
          <a:prstGeom prst="rect">
            <a:avLst/>
          </a:prstGeom>
          <a:noFill/>
          <a:ln/>
        </p:spPr>
        <p:txBody>
          <a:bodyPr wrap="square" lIns="0" tIns="0" rIns="0" bIns="0" rtlCol="0" anchor="ctr"/>
          <a:lstStyle/>
          <a:p>
            <a:pPr algn="ctr" indent="0" marL="0">
              <a:buNone/>
            </a:pPr>
            <a:r>
              <a:rPr lang="en-US" sz="1200" b="1" dirty="0">
                <a:solidFill>
                  <a:schemeClr val="bg1"/>
                </a:solidFill>
              </a:rPr>
              <a:t>What this means</a:t>
            </a:r>
            <a:endParaRPr lang="en-US" sz="1200" dirty="0"/>
          </a:p>
        </p:txBody>
      </p:sp>
      <p:sp>
        <p:nvSpPr>
          <p:cNvPr id="20" name="Row text 2"/>
          <p:cNvSpPr txBox="1"/>
          <p:nvPr/>
        </p:nvSpPr>
        <p:spPr>
          <a:xfrm>
            <a:off x="8046720" y="3017520"/>
            <a:ext cx="3429000" cy="640080"/>
          </a:xfrm>
          <a:prstGeom prst="rect">
            <a:avLst/>
          </a:prstGeom>
          <a:noFill/>
          <a:ln/>
        </p:spPr>
        <p:txBody>
          <a:bodyPr wrap="square" lIns="0" tIns="0" rIns="0" bIns="0" rtlCol="0" anchor="ctr"/>
          <a:lstStyle/>
          <a:p>
            <a:pPr indent="0" marL="0">
              <a:buNone/>
            </a:pPr>
            <a:r>
              <a:rPr lang="en-US" sz="1400" dirty="0">
                <a:solidFill>
                  <a:schemeClr val="tx1"/>
                </a:solidFill>
              </a:rPr>
              <a:t>You cover the vendor's losses, even their own mistakes.</a:t>
            </a:r>
            <a:endParaRPr lang="en-US" sz="1400" dirty="0"/>
          </a:p>
        </p:txBody>
      </p:sp>
      <p:sp>
        <p:nvSpPr>
          <p:cNvPr id="21" name="Row label 3"/>
          <p:cNvSpPr/>
          <p:nvPr/>
        </p:nvSpPr>
        <p:spPr>
          <a:xfrm>
            <a:off x="6080760" y="3794760"/>
            <a:ext cx="1783080" cy="502920"/>
          </a:xfrm>
          <a:prstGeom prst="roundRect">
            <a:avLst>
              <a:gd name="adj" fmla="val 21818"/>
            </a:avLst>
          </a:prstGeom>
          <a:solidFill>
            <a:schemeClr val="accent1"/>
          </a:solidFill>
          <a:ln/>
        </p:spPr>
      </p:sp>
      <p:sp>
        <p:nvSpPr>
          <p:cNvPr id="22" name="Row label text 3"/>
          <p:cNvSpPr txBox="1"/>
          <p:nvPr/>
        </p:nvSpPr>
        <p:spPr>
          <a:xfrm>
            <a:off x="6080760" y="3794760"/>
            <a:ext cx="1783080" cy="502920"/>
          </a:xfrm>
          <a:prstGeom prst="rect">
            <a:avLst/>
          </a:prstGeom>
          <a:noFill/>
          <a:ln/>
        </p:spPr>
        <p:txBody>
          <a:bodyPr wrap="square" lIns="0" tIns="0" rIns="0" bIns="0" rtlCol="0" anchor="ctr"/>
          <a:lstStyle/>
          <a:p>
            <a:pPr algn="ctr" indent="0" marL="0">
              <a:buNone/>
            </a:pPr>
            <a:r>
              <a:rPr lang="en-US" sz="1200" b="1" dirty="0">
                <a:solidFill>
                  <a:schemeClr val="bg1"/>
                </a:solidFill>
              </a:rPr>
              <a:t>What could happen</a:t>
            </a:r>
            <a:endParaRPr lang="en-US" sz="1200" dirty="0"/>
          </a:p>
        </p:txBody>
      </p:sp>
      <p:sp>
        <p:nvSpPr>
          <p:cNvPr id="23" name="Row text 3"/>
          <p:cNvSpPr txBox="1"/>
          <p:nvPr/>
        </p:nvSpPr>
        <p:spPr>
          <a:xfrm>
            <a:off x="8046720" y="3749040"/>
            <a:ext cx="3429000" cy="640080"/>
          </a:xfrm>
          <a:prstGeom prst="rect">
            <a:avLst/>
          </a:prstGeom>
          <a:noFill/>
          <a:ln/>
        </p:spPr>
        <p:txBody>
          <a:bodyPr wrap="square" lIns="0" tIns="0" rIns="0" bIns="0" rtlCol="0" anchor="ctr"/>
          <a:lstStyle/>
          <a:p>
            <a:pPr indent="0" marL="0">
              <a:buNone/>
            </a:pPr>
            <a:r>
              <a:rPr lang="en-US" sz="1400" dirty="0">
                <a:solidFill>
                  <a:schemeClr val="tx1"/>
                </a:solidFill>
              </a:rPr>
              <a:t>One dispute could cost more than the whole contract.</a:t>
            </a:r>
            <a:endParaRPr lang="en-US" sz="1400" dirty="0"/>
          </a:p>
        </p:txBody>
      </p:sp>
      <p:sp>
        <p:nvSpPr>
          <p:cNvPr id="24" name="Row label 4"/>
          <p:cNvSpPr/>
          <p:nvPr/>
        </p:nvSpPr>
        <p:spPr>
          <a:xfrm>
            <a:off x="6080760" y="4526280"/>
            <a:ext cx="1783080" cy="502920"/>
          </a:xfrm>
          <a:prstGeom prst="roundRect">
            <a:avLst>
              <a:gd name="adj" fmla="val 21818"/>
            </a:avLst>
          </a:prstGeom>
          <a:solidFill>
            <a:schemeClr val="accent1"/>
          </a:solidFill>
          <a:ln/>
        </p:spPr>
      </p:sp>
      <p:sp>
        <p:nvSpPr>
          <p:cNvPr id="25" name="Row label text 4"/>
          <p:cNvSpPr txBox="1"/>
          <p:nvPr/>
        </p:nvSpPr>
        <p:spPr>
          <a:xfrm>
            <a:off x="6080760" y="4526280"/>
            <a:ext cx="1783080" cy="502920"/>
          </a:xfrm>
          <a:prstGeom prst="rect">
            <a:avLst/>
          </a:prstGeom>
          <a:noFill/>
          <a:ln/>
        </p:spPr>
        <p:txBody>
          <a:bodyPr wrap="square" lIns="0" tIns="0" rIns="0" bIns="0" rtlCol="0" anchor="ctr"/>
          <a:lstStyle/>
          <a:p>
            <a:pPr algn="ctr" indent="0" marL="0">
              <a:buNone/>
            </a:pPr>
            <a:r>
              <a:rPr lang="en-US" sz="1200" b="1" dirty="0">
                <a:solidFill>
                  <a:schemeClr val="bg1"/>
                </a:solidFill>
              </a:rPr>
              <a:t>Evidence</a:t>
            </a:r>
            <a:endParaRPr lang="en-US" sz="1200" dirty="0"/>
          </a:p>
        </p:txBody>
      </p:sp>
      <p:sp>
        <p:nvSpPr>
          <p:cNvPr id="26" name="Row text 4"/>
          <p:cNvSpPr txBox="1"/>
          <p:nvPr/>
        </p:nvSpPr>
        <p:spPr>
          <a:xfrm>
            <a:off x="8046720" y="4480560"/>
            <a:ext cx="3429000" cy="640080"/>
          </a:xfrm>
          <a:prstGeom prst="rect">
            <a:avLst/>
          </a:prstGeom>
          <a:noFill/>
          <a:ln/>
        </p:spPr>
        <p:txBody>
          <a:bodyPr wrap="square" lIns="0" tIns="0" rIns="0" bIns="0" rtlCol="0" anchor="ctr"/>
          <a:lstStyle/>
          <a:p>
            <a:pPr indent="0" marL="0">
              <a:buNone/>
            </a:pPr>
            <a:r>
              <a:rPr lang="en-US" sz="1400" dirty="0">
                <a:solidFill>
                  <a:schemeClr val="tx1"/>
                </a:solidFill>
              </a:rPr>
              <a:t>“Client shall indemnify… regardless of fault.” — Section 3.1</a:t>
            </a:r>
            <a:endParaRPr lang="en-US" sz="1400" dirty="0"/>
          </a:p>
        </p:txBody>
      </p:sp>
      <p:sp>
        <p:nvSpPr>
          <p:cNvPr id="27" name="Row label 5"/>
          <p:cNvSpPr/>
          <p:nvPr/>
        </p:nvSpPr>
        <p:spPr>
          <a:xfrm>
            <a:off x="6080760" y="5257800"/>
            <a:ext cx="1783080" cy="502920"/>
          </a:xfrm>
          <a:prstGeom prst="roundRect">
            <a:avLst>
              <a:gd name="adj" fmla="val 21818"/>
            </a:avLst>
          </a:prstGeom>
          <a:solidFill>
            <a:schemeClr val="accent1"/>
          </a:solidFill>
          <a:ln/>
        </p:spPr>
      </p:sp>
      <p:sp>
        <p:nvSpPr>
          <p:cNvPr id="28" name="Row label text 5"/>
          <p:cNvSpPr txBox="1"/>
          <p:nvPr/>
        </p:nvSpPr>
        <p:spPr>
          <a:xfrm>
            <a:off x="6080760" y="5257800"/>
            <a:ext cx="1783080" cy="502920"/>
          </a:xfrm>
          <a:prstGeom prst="rect">
            <a:avLst/>
          </a:prstGeom>
          <a:noFill/>
          <a:ln/>
        </p:spPr>
        <p:txBody>
          <a:bodyPr wrap="square" lIns="0" tIns="0" rIns="0" bIns="0" rtlCol="0" anchor="ctr"/>
          <a:lstStyle/>
          <a:p>
            <a:pPr algn="ctr" indent="0" marL="0">
              <a:buNone/>
            </a:pPr>
            <a:r>
              <a:rPr lang="en-US" sz="1200" b="1" dirty="0">
                <a:solidFill>
                  <a:schemeClr val="bg1"/>
                </a:solidFill>
              </a:rPr>
              <a:t>Recommended fix</a:t>
            </a:r>
            <a:endParaRPr lang="en-US" sz="1200" dirty="0"/>
          </a:p>
        </p:txBody>
      </p:sp>
      <p:sp>
        <p:nvSpPr>
          <p:cNvPr id="29" name="Row text 5"/>
          <p:cNvSpPr txBox="1"/>
          <p:nvPr/>
        </p:nvSpPr>
        <p:spPr>
          <a:xfrm>
            <a:off x="8046720" y="5212080"/>
            <a:ext cx="3429000" cy="640080"/>
          </a:xfrm>
          <a:prstGeom prst="rect">
            <a:avLst/>
          </a:prstGeom>
          <a:noFill/>
          <a:ln/>
        </p:spPr>
        <p:txBody>
          <a:bodyPr wrap="square" lIns="0" tIns="0" rIns="0" bIns="0" rtlCol="0" anchor="ctr"/>
          <a:lstStyle/>
          <a:p>
            <a:pPr indent="0" marL="0">
              <a:buNone/>
            </a:pPr>
            <a:r>
              <a:rPr lang="en-US" sz="1400" dirty="0">
                <a:solidFill>
                  <a:schemeClr val="tx1"/>
                </a:solidFill>
              </a:rPr>
              <a:t>Mutual indemnity, capped at fees paid.</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Negotiate with three wordings</a:t>
            </a:r>
            <a:endParaRPr lang="en-US" sz="3600" dirty="0"/>
          </a:p>
        </p:txBody>
      </p:sp>
      <p:sp>
        <p:nvSpPr>
          <p:cNvPr id="3" name="Column card 1"/>
          <p:cNvSpPr/>
          <p:nvPr/>
        </p:nvSpPr>
        <p:spPr>
          <a:xfrm>
            <a:off x="548640" y="1463040"/>
            <a:ext cx="3520440" cy="4572000"/>
          </a:xfrm>
          <a:prstGeom prst="roundRect">
            <a:avLst>
              <a:gd name="adj" fmla="val 3117"/>
            </a:avLst>
          </a:prstGeom>
          <a:solidFill>
            <a:schemeClr val="bg2"/>
          </a:solidFill>
          <a:ln/>
        </p:spPr>
      </p:sp>
      <p:sp>
        <p:nvSpPr>
          <p:cNvPr id="4" name="Column header 1"/>
          <p:cNvSpPr/>
          <p:nvPr/>
        </p:nvSpPr>
        <p:spPr>
          <a:xfrm>
            <a:off x="548640" y="1463040"/>
            <a:ext cx="3520440" cy="640080"/>
          </a:xfrm>
          <a:prstGeom prst="roundRect">
            <a:avLst>
              <a:gd name="adj" fmla="val 17143"/>
            </a:avLst>
          </a:prstGeom>
          <a:solidFill>
            <a:schemeClr val="accent2"/>
          </a:solidFill>
          <a:ln/>
        </p:spPr>
      </p:sp>
      <p:sp>
        <p:nvSpPr>
          <p:cNvPr id="5" name="Column header text 1"/>
          <p:cNvSpPr txBox="1"/>
          <p:nvPr/>
        </p:nvSpPr>
        <p:spPr>
          <a:xfrm>
            <a:off x="548640" y="1463040"/>
            <a:ext cx="3520440" cy="640080"/>
          </a:xfrm>
          <a:prstGeom prst="rect">
            <a:avLst/>
          </a:prstGeom>
          <a:noFill/>
          <a:ln/>
        </p:spPr>
        <p:txBody>
          <a:bodyPr wrap="square" lIns="0" tIns="0" rIns="0" bIns="0" rtlCol="0" anchor="ctr"/>
          <a:lstStyle/>
          <a:p>
            <a:pPr algn="ctr" indent="0" marL="0">
              <a:buNone/>
            </a:pPr>
            <a:r>
              <a:rPr lang="en-US" sz="2000" b="1" dirty="0">
                <a:solidFill>
                  <a:schemeClr val="bg1"/>
                </a:solidFill>
              </a:rPr>
              <a:t>Original Draft</a:t>
            </a:r>
            <a:endParaRPr lang="en-US" sz="2000" dirty="0"/>
          </a:p>
        </p:txBody>
      </p:sp>
      <p:sp>
        <p:nvSpPr>
          <p:cNvPr id="6" name="Clause text 1"/>
          <p:cNvSpPr txBox="1"/>
          <p:nvPr/>
        </p:nvSpPr>
        <p:spPr>
          <a:xfrm>
            <a:off x="822960" y="2377440"/>
            <a:ext cx="2971800" cy="2011680"/>
          </a:xfrm>
          <a:prstGeom prst="rect">
            <a:avLst/>
          </a:prstGeom>
          <a:noFill/>
          <a:ln/>
        </p:spPr>
        <p:txBody>
          <a:bodyPr wrap="square" lIns="0" tIns="0" rIns="0" bIns="0" rtlCol="0" anchor="t"/>
          <a:lstStyle/>
          <a:p>
            <a:pPr indent="0" marL="0">
              <a:buNone/>
            </a:pPr>
            <a:r>
              <a:rPr lang="en-US" sz="1600" dirty="0">
                <a:solidFill>
                  <a:schemeClr val="tx1"/>
                </a:solidFill>
              </a:rPr>
              <a:t>Client shall indemnify Vendor against all claims, losses and costs, regardless of fault.</a:t>
            </a:r>
            <a:endParaRPr lang="en-US" sz="1600" dirty="0"/>
          </a:p>
        </p:txBody>
      </p:sp>
      <p:sp>
        <p:nvSpPr>
          <p:cNvPr id="7" name="Tradeoff label 1"/>
          <p:cNvSpPr txBox="1"/>
          <p:nvPr/>
        </p:nvSpPr>
        <p:spPr>
          <a:xfrm>
            <a:off x="822960" y="4617720"/>
            <a:ext cx="2971800" cy="274320"/>
          </a:xfrm>
          <a:prstGeom prst="rect">
            <a:avLst/>
          </a:prstGeom>
          <a:noFill/>
          <a:ln/>
        </p:spPr>
        <p:txBody>
          <a:bodyPr wrap="square" lIns="0" tIns="0" rIns="0" bIns="0" rtlCol="0" anchor="t"/>
          <a:lstStyle/>
          <a:p>
            <a:pPr indent="0" marL="0">
              <a:buNone/>
            </a:pPr>
            <a:r>
              <a:rPr lang="en-US" sz="1200" b="1" dirty="0">
                <a:solidFill>
                  <a:schemeClr val="accent5"/>
                </a:solidFill>
              </a:rPr>
              <a:t>TRADE-OFF</a:t>
            </a:r>
            <a:endParaRPr lang="en-US" sz="1200" dirty="0"/>
          </a:p>
        </p:txBody>
      </p:sp>
      <p:sp>
        <p:nvSpPr>
          <p:cNvPr id="8" name="Tradeoff text 1"/>
          <p:cNvSpPr txBox="1"/>
          <p:nvPr/>
        </p:nvSpPr>
        <p:spPr>
          <a:xfrm>
            <a:off x="822960" y="4937760"/>
            <a:ext cx="2971800" cy="914400"/>
          </a:xfrm>
          <a:prstGeom prst="rect">
            <a:avLst/>
          </a:prstGeom>
          <a:noFill/>
          <a:ln/>
        </p:spPr>
        <p:txBody>
          <a:bodyPr wrap="square" lIns="0" tIns="0" rIns="0" bIns="0" rtlCol="0" anchor="t"/>
          <a:lstStyle/>
          <a:p>
            <a:pPr indent="0" marL="0">
              <a:buNone/>
            </a:pPr>
            <a:r>
              <a:rPr lang="en-US" sz="1600" b="1" dirty="0">
                <a:solidFill>
                  <a:schemeClr val="tx2"/>
                </a:solidFill>
              </a:rPr>
              <a:t>Unlimited exposure. All the risk sits with you.</a:t>
            </a:r>
            <a:endParaRPr lang="en-US" sz="1600" dirty="0"/>
          </a:p>
        </p:txBody>
      </p:sp>
      <p:sp>
        <p:nvSpPr>
          <p:cNvPr id="9" name="Column card 2"/>
          <p:cNvSpPr/>
          <p:nvPr/>
        </p:nvSpPr>
        <p:spPr>
          <a:xfrm>
            <a:off x="4334256" y="1463040"/>
            <a:ext cx="3520440" cy="4572000"/>
          </a:xfrm>
          <a:prstGeom prst="roundRect">
            <a:avLst>
              <a:gd name="adj" fmla="val 3117"/>
            </a:avLst>
          </a:prstGeom>
          <a:solidFill>
            <a:schemeClr val="bg2"/>
          </a:solidFill>
          <a:ln/>
        </p:spPr>
      </p:sp>
      <p:sp>
        <p:nvSpPr>
          <p:cNvPr id="10" name="Column header 2"/>
          <p:cNvSpPr/>
          <p:nvPr/>
        </p:nvSpPr>
        <p:spPr>
          <a:xfrm>
            <a:off x="4334256" y="1463040"/>
            <a:ext cx="3520440" cy="640080"/>
          </a:xfrm>
          <a:prstGeom prst="roundRect">
            <a:avLst>
              <a:gd name="adj" fmla="val 17143"/>
            </a:avLst>
          </a:prstGeom>
          <a:solidFill>
            <a:schemeClr val="accent1"/>
          </a:solidFill>
          <a:ln/>
        </p:spPr>
      </p:sp>
      <p:sp>
        <p:nvSpPr>
          <p:cNvPr id="11" name="Column header text 2"/>
          <p:cNvSpPr txBox="1"/>
          <p:nvPr/>
        </p:nvSpPr>
        <p:spPr>
          <a:xfrm>
            <a:off x="4334256" y="1463040"/>
            <a:ext cx="3520440" cy="640080"/>
          </a:xfrm>
          <a:prstGeom prst="rect">
            <a:avLst/>
          </a:prstGeom>
          <a:noFill/>
          <a:ln/>
        </p:spPr>
        <p:txBody>
          <a:bodyPr wrap="square" lIns="0" tIns="0" rIns="0" bIns="0" rtlCol="0" anchor="ctr"/>
          <a:lstStyle/>
          <a:p>
            <a:pPr algn="ctr" indent="0" marL="0">
              <a:buNone/>
            </a:pPr>
            <a:r>
              <a:rPr lang="en-US" sz="2000" b="1" dirty="0">
                <a:solidFill>
                  <a:schemeClr val="bg1"/>
                </a:solidFill>
              </a:rPr>
              <a:t>Balanced Revision</a:t>
            </a:r>
            <a:endParaRPr lang="en-US" sz="2000" dirty="0"/>
          </a:p>
        </p:txBody>
      </p:sp>
      <p:sp>
        <p:nvSpPr>
          <p:cNvPr id="12" name="Clause text 2"/>
          <p:cNvSpPr txBox="1"/>
          <p:nvPr/>
        </p:nvSpPr>
        <p:spPr>
          <a:xfrm>
            <a:off x="4608576" y="2377440"/>
            <a:ext cx="2971800" cy="2011680"/>
          </a:xfrm>
          <a:prstGeom prst="rect">
            <a:avLst/>
          </a:prstGeom>
          <a:noFill/>
          <a:ln/>
        </p:spPr>
        <p:txBody>
          <a:bodyPr wrap="square" lIns="0" tIns="0" rIns="0" bIns="0" rtlCol="0" anchor="t"/>
          <a:lstStyle/>
          <a:p>
            <a:pPr indent="0" marL="0">
              <a:buNone/>
            </a:pPr>
            <a:r>
              <a:rPr lang="en-US" sz="1600" dirty="0">
                <a:solidFill>
                  <a:schemeClr val="tx1"/>
                </a:solidFill>
              </a:rPr>
              <a:t>Each party indemnifies the other for claims caused by its own negligence, capped at fees paid in the prior 12 months.</a:t>
            </a:r>
            <a:endParaRPr lang="en-US" sz="1600" dirty="0"/>
          </a:p>
        </p:txBody>
      </p:sp>
      <p:sp>
        <p:nvSpPr>
          <p:cNvPr id="13" name="Tradeoff label 2"/>
          <p:cNvSpPr txBox="1"/>
          <p:nvPr/>
        </p:nvSpPr>
        <p:spPr>
          <a:xfrm>
            <a:off x="4608576" y="4617720"/>
            <a:ext cx="2971800" cy="274320"/>
          </a:xfrm>
          <a:prstGeom prst="rect">
            <a:avLst/>
          </a:prstGeom>
          <a:noFill/>
          <a:ln/>
        </p:spPr>
        <p:txBody>
          <a:bodyPr wrap="square" lIns="0" tIns="0" rIns="0" bIns="0" rtlCol="0" anchor="t"/>
          <a:lstStyle/>
          <a:p>
            <a:pPr indent="0" marL="0">
              <a:buNone/>
            </a:pPr>
            <a:r>
              <a:rPr lang="en-US" sz="1200" b="1" dirty="0">
                <a:solidFill>
                  <a:schemeClr val="accent5"/>
                </a:solidFill>
              </a:rPr>
              <a:t>TRADE-OFF</a:t>
            </a:r>
            <a:endParaRPr lang="en-US" sz="1200" dirty="0"/>
          </a:p>
        </p:txBody>
      </p:sp>
      <p:sp>
        <p:nvSpPr>
          <p:cNvPr id="14" name="Tradeoff text 2"/>
          <p:cNvSpPr txBox="1"/>
          <p:nvPr/>
        </p:nvSpPr>
        <p:spPr>
          <a:xfrm>
            <a:off x="4608576" y="4937760"/>
            <a:ext cx="2971800" cy="914400"/>
          </a:xfrm>
          <a:prstGeom prst="rect">
            <a:avLst/>
          </a:prstGeom>
          <a:noFill/>
          <a:ln/>
        </p:spPr>
        <p:txBody>
          <a:bodyPr wrap="square" lIns="0" tIns="0" rIns="0" bIns="0" rtlCol="0" anchor="t"/>
          <a:lstStyle/>
          <a:p>
            <a:pPr indent="0" marL="0">
              <a:buNone/>
            </a:pPr>
            <a:r>
              <a:rPr lang="en-US" sz="1600" b="1" dirty="0">
                <a:solidFill>
                  <a:schemeClr val="tx2"/>
                </a:solidFill>
              </a:rPr>
              <a:t>Most likely to be accepted. Fair to both sides.</a:t>
            </a:r>
            <a:endParaRPr lang="en-US" sz="1600" dirty="0"/>
          </a:p>
        </p:txBody>
      </p:sp>
      <p:sp>
        <p:nvSpPr>
          <p:cNvPr id="15" name="Column card 3"/>
          <p:cNvSpPr/>
          <p:nvPr/>
        </p:nvSpPr>
        <p:spPr>
          <a:xfrm>
            <a:off x="8119872" y="1463040"/>
            <a:ext cx="3520440" cy="4572000"/>
          </a:xfrm>
          <a:prstGeom prst="roundRect">
            <a:avLst>
              <a:gd name="adj" fmla="val 3117"/>
            </a:avLst>
          </a:prstGeom>
          <a:solidFill>
            <a:schemeClr val="bg2"/>
          </a:solidFill>
          <a:ln/>
        </p:spPr>
      </p:sp>
      <p:sp>
        <p:nvSpPr>
          <p:cNvPr id="16" name="Column header 3"/>
          <p:cNvSpPr/>
          <p:nvPr/>
        </p:nvSpPr>
        <p:spPr>
          <a:xfrm>
            <a:off x="8119872" y="1463040"/>
            <a:ext cx="3520440" cy="640080"/>
          </a:xfrm>
          <a:prstGeom prst="roundRect">
            <a:avLst>
              <a:gd name="adj" fmla="val 17143"/>
            </a:avLst>
          </a:prstGeom>
          <a:solidFill>
            <a:schemeClr val="accent4"/>
          </a:solidFill>
          <a:ln/>
        </p:spPr>
      </p:sp>
      <p:sp>
        <p:nvSpPr>
          <p:cNvPr id="17" name="Column header text 3"/>
          <p:cNvSpPr txBox="1"/>
          <p:nvPr/>
        </p:nvSpPr>
        <p:spPr>
          <a:xfrm>
            <a:off x="8119872" y="1463040"/>
            <a:ext cx="3520440" cy="640080"/>
          </a:xfrm>
          <a:prstGeom prst="rect">
            <a:avLst/>
          </a:prstGeom>
          <a:noFill/>
          <a:ln/>
        </p:spPr>
        <p:txBody>
          <a:bodyPr wrap="square" lIns="0" tIns="0" rIns="0" bIns="0" rtlCol="0" anchor="ctr"/>
          <a:lstStyle/>
          <a:p>
            <a:pPr algn="ctr" indent="0" marL="0">
              <a:buNone/>
            </a:pPr>
            <a:r>
              <a:rPr lang="en-US" sz="2000" b="1" dirty="0">
                <a:solidFill>
                  <a:schemeClr val="bg1"/>
                </a:solidFill>
              </a:rPr>
              <a:t>Pro-Client Revision</a:t>
            </a:r>
            <a:endParaRPr lang="en-US" sz="2000" dirty="0"/>
          </a:p>
        </p:txBody>
      </p:sp>
      <p:sp>
        <p:nvSpPr>
          <p:cNvPr id="18" name="Clause text 3"/>
          <p:cNvSpPr txBox="1"/>
          <p:nvPr/>
        </p:nvSpPr>
        <p:spPr>
          <a:xfrm>
            <a:off x="8394192" y="2377440"/>
            <a:ext cx="2971800" cy="2011680"/>
          </a:xfrm>
          <a:prstGeom prst="rect">
            <a:avLst/>
          </a:prstGeom>
          <a:noFill/>
          <a:ln/>
        </p:spPr>
        <p:txBody>
          <a:bodyPr wrap="square" lIns="0" tIns="0" rIns="0" bIns="0" rtlCol="0" anchor="t"/>
          <a:lstStyle/>
          <a:p>
            <a:pPr indent="0" marL="0">
              <a:buNone/>
            </a:pPr>
            <a:r>
              <a:rPr lang="en-US" sz="1600" dirty="0">
                <a:solidFill>
                  <a:schemeClr val="tx1"/>
                </a:solidFill>
              </a:rPr>
              <a:t>Vendor indemnifies Client for claims arising from Vendor's acts or omissions. Client's liability is limited to fees paid.</a:t>
            </a:r>
            <a:endParaRPr lang="en-US" sz="1600" dirty="0"/>
          </a:p>
        </p:txBody>
      </p:sp>
      <p:sp>
        <p:nvSpPr>
          <p:cNvPr id="19" name="Tradeoff label 3"/>
          <p:cNvSpPr txBox="1"/>
          <p:nvPr/>
        </p:nvSpPr>
        <p:spPr>
          <a:xfrm>
            <a:off x="8394192" y="4617720"/>
            <a:ext cx="2971800" cy="274320"/>
          </a:xfrm>
          <a:prstGeom prst="rect">
            <a:avLst/>
          </a:prstGeom>
          <a:noFill/>
          <a:ln/>
        </p:spPr>
        <p:txBody>
          <a:bodyPr wrap="square" lIns="0" tIns="0" rIns="0" bIns="0" rtlCol="0" anchor="t"/>
          <a:lstStyle/>
          <a:p>
            <a:pPr indent="0" marL="0">
              <a:buNone/>
            </a:pPr>
            <a:r>
              <a:rPr lang="en-US" sz="1200" b="1" dirty="0">
                <a:solidFill>
                  <a:schemeClr val="accent5"/>
                </a:solidFill>
              </a:rPr>
              <a:t>TRADE-OFF</a:t>
            </a:r>
            <a:endParaRPr lang="en-US" sz="1200" dirty="0"/>
          </a:p>
        </p:txBody>
      </p:sp>
      <p:sp>
        <p:nvSpPr>
          <p:cNvPr id="20" name="Tradeoff text 3"/>
          <p:cNvSpPr txBox="1"/>
          <p:nvPr/>
        </p:nvSpPr>
        <p:spPr>
          <a:xfrm>
            <a:off x="8394192" y="4937760"/>
            <a:ext cx="2971800" cy="914400"/>
          </a:xfrm>
          <a:prstGeom prst="rect">
            <a:avLst/>
          </a:prstGeom>
          <a:noFill/>
          <a:ln/>
        </p:spPr>
        <p:txBody>
          <a:bodyPr wrap="square" lIns="0" tIns="0" rIns="0" bIns="0" rtlCol="0" anchor="t"/>
          <a:lstStyle/>
          <a:p>
            <a:pPr indent="0" marL="0">
              <a:buNone/>
            </a:pPr>
            <a:r>
              <a:rPr lang="en-US" sz="1600" b="1" dirty="0">
                <a:solidFill>
                  <a:schemeClr val="tx2"/>
                </a:solidFill>
              </a:rPr>
              <a:t>Strongest protection for you. Expect pushback.</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Real citations across three jurisdictions</a:t>
            </a:r>
            <a:endParaRPr lang="en-US" sz="3600" dirty="0"/>
          </a:p>
        </p:txBody>
      </p:sp>
      <p:sp>
        <p:nvSpPr>
          <p:cNvPr id="3" name="Jurisdiction card 1"/>
          <p:cNvSpPr/>
          <p:nvPr/>
        </p:nvSpPr>
        <p:spPr>
          <a:xfrm>
            <a:off x="548640" y="1463040"/>
            <a:ext cx="3520440" cy="4023360"/>
          </a:xfrm>
          <a:prstGeom prst="roundRect">
            <a:avLst>
              <a:gd name="adj" fmla="val 3117"/>
            </a:avLst>
          </a:prstGeom>
          <a:solidFill>
            <a:schemeClr val="bg2"/>
          </a:solidFill>
          <a:ln/>
        </p:spPr>
      </p:sp>
      <p:sp>
        <p:nvSpPr>
          <p:cNvPr id="4" name="Jurisdiction badge 1"/>
          <p:cNvSpPr/>
          <p:nvPr/>
        </p:nvSpPr>
        <p:spPr>
          <a:xfrm>
            <a:off x="914400" y="1783080"/>
            <a:ext cx="914400" cy="914400"/>
          </a:xfrm>
          <a:prstGeom prst="ellipse">
            <a:avLst/>
          </a:prstGeom>
          <a:solidFill>
            <a:schemeClr val="tx2"/>
          </a:solidFill>
          <a:ln/>
        </p:spPr>
      </p:sp>
      <p:sp>
        <p:nvSpPr>
          <p:cNvPr id="5" name="Jurisdiction code 1"/>
          <p:cNvSpPr txBox="1"/>
          <p:nvPr/>
        </p:nvSpPr>
        <p:spPr>
          <a:xfrm>
            <a:off x="914400" y="1783080"/>
            <a:ext cx="914400" cy="914400"/>
          </a:xfrm>
          <a:prstGeom prst="rect">
            <a:avLst/>
          </a:prstGeom>
          <a:noFill/>
          <a:ln/>
        </p:spPr>
        <p:txBody>
          <a:bodyPr wrap="square" lIns="0" tIns="0" rIns="0" bIns="0" rtlCol="0" anchor="ctr"/>
          <a:lstStyle/>
          <a:p>
            <a:pPr algn="ctr" indent="0" marL="0">
              <a:buNone/>
            </a:pPr>
            <a:r>
              <a:rPr lang="en-US" sz="2400" b="1" dirty="0">
                <a:solidFill>
                  <a:schemeClr val="bg1"/>
                </a:solidFill>
              </a:rPr>
              <a:t>IN</a:t>
            </a:r>
            <a:endParaRPr lang="en-US" sz="2400" dirty="0"/>
          </a:p>
        </p:txBody>
      </p:sp>
      <p:sp>
        <p:nvSpPr>
          <p:cNvPr id="6" name="Jurisdiction name 1"/>
          <p:cNvSpPr txBox="1"/>
          <p:nvPr/>
        </p:nvSpPr>
        <p:spPr>
          <a:xfrm>
            <a:off x="2057400" y="1965960"/>
            <a:ext cx="1828800" cy="548640"/>
          </a:xfrm>
          <a:prstGeom prst="rect">
            <a:avLst/>
          </a:prstGeom>
          <a:noFill/>
          <a:ln/>
        </p:spPr>
        <p:txBody>
          <a:bodyPr wrap="square" lIns="0" tIns="0" rIns="0" bIns="0" rtlCol="0" anchor="ctr"/>
          <a:lstStyle/>
          <a:p>
            <a:pPr indent="0" marL="0">
              <a:buNone/>
            </a:pPr>
            <a:r>
              <a:rPr lang="en-US" sz="2600" b="1" dirty="0">
                <a:solidFill>
                  <a:schemeClr val="tx2"/>
                </a:solidFill>
              </a:rPr>
              <a:t>India</a:t>
            </a:r>
            <a:endParaRPr lang="en-US" sz="2600" dirty="0"/>
          </a:p>
        </p:txBody>
      </p:sp>
      <p:sp>
        <p:nvSpPr>
          <p:cNvPr id="7" name="Instruments 1"/>
          <p:cNvSpPr txBox="1"/>
          <p:nvPr/>
        </p:nvSpPr>
        <p:spPr>
          <a:xfrm>
            <a:off x="914400" y="3017520"/>
            <a:ext cx="2834640" cy="1097280"/>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Indian Contract Act, 1872</a:t>
            </a:r>
            <a:endParaRPr lang="en-US" sz="1800" dirty="0"/>
          </a:p>
          <a:p>
            <a:pPr indent="0" marL="0">
              <a:spcAft>
                <a:spcPts val="800"/>
              </a:spcAft>
              <a:buNone/>
            </a:pPr>
            <a:r>
              <a:rPr lang="en-US" sz="1800" dirty="0">
                <a:solidFill>
                  <a:schemeClr val="tx1"/>
                </a:solidFill>
              </a:rPr>
              <a:t>DPDP Act, 2023</a:t>
            </a:r>
            <a:endParaRPr lang="en-US" sz="1800" dirty="0"/>
          </a:p>
        </p:txBody>
      </p:sp>
      <p:sp>
        <p:nvSpPr>
          <p:cNvPr id="8" name="Link chip 1"/>
          <p:cNvSpPr/>
          <p:nvPr/>
        </p:nvSpPr>
        <p:spPr>
          <a:xfrm>
            <a:off x="914400" y="4480560"/>
            <a:ext cx="2788920" cy="548640"/>
          </a:xfrm>
          <a:prstGeom prst="roundRect">
            <a:avLst>
              <a:gd name="adj" fmla="val 20000"/>
            </a:avLst>
          </a:prstGeom>
          <a:solidFill>
            <a:schemeClr val="bg1"/>
          </a:solidFill>
          <a:ln/>
        </p:spPr>
      </p:sp>
      <p:sp>
        <p:nvSpPr>
          <p:cNvPr id="9" name="Link text 1"/>
          <p:cNvSpPr txBox="1"/>
          <p:nvPr/>
        </p:nvSpPr>
        <p:spPr>
          <a:xfrm>
            <a:off x="914400" y="4480560"/>
            <a:ext cx="2788920" cy="548640"/>
          </a:xfrm>
          <a:prstGeom prst="rect">
            <a:avLst/>
          </a:prstGeom>
          <a:noFill/>
          <a:ln/>
        </p:spPr>
        <p:txBody>
          <a:bodyPr wrap="square" lIns="0" tIns="0" rIns="0" bIns="0" rtlCol="0" anchor="ctr"/>
          <a:lstStyle/>
          <a:p>
            <a:pPr algn="ctr" indent="0" marL="0">
              <a:buNone/>
            </a:pPr>
            <a:r>
              <a:rPr lang="en-US" sz="1500" b="1" dirty="0">
                <a:solidFill>
                  <a:schemeClr val="accent1"/>
                </a:solidFill>
              </a:rPr>
              <a:t>indiacode.nic.in</a:t>
            </a:r>
            <a:endParaRPr lang="en-US" sz="1500" dirty="0"/>
          </a:p>
        </p:txBody>
      </p:sp>
      <p:sp>
        <p:nvSpPr>
          <p:cNvPr id="10" name="Jurisdiction card 2"/>
          <p:cNvSpPr/>
          <p:nvPr/>
        </p:nvSpPr>
        <p:spPr>
          <a:xfrm>
            <a:off x="4334256" y="1463040"/>
            <a:ext cx="3520440" cy="4023360"/>
          </a:xfrm>
          <a:prstGeom prst="roundRect">
            <a:avLst>
              <a:gd name="adj" fmla="val 3117"/>
            </a:avLst>
          </a:prstGeom>
          <a:solidFill>
            <a:schemeClr val="bg2"/>
          </a:solidFill>
          <a:ln/>
        </p:spPr>
      </p:sp>
      <p:sp>
        <p:nvSpPr>
          <p:cNvPr id="11" name="Jurisdiction badge 2"/>
          <p:cNvSpPr/>
          <p:nvPr/>
        </p:nvSpPr>
        <p:spPr>
          <a:xfrm>
            <a:off x="4700016" y="1783080"/>
            <a:ext cx="914400" cy="914400"/>
          </a:xfrm>
          <a:prstGeom prst="ellipse">
            <a:avLst/>
          </a:prstGeom>
          <a:solidFill>
            <a:schemeClr val="tx2"/>
          </a:solidFill>
          <a:ln/>
        </p:spPr>
      </p:sp>
      <p:sp>
        <p:nvSpPr>
          <p:cNvPr id="12" name="Jurisdiction code 2"/>
          <p:cNvSpPr txBox="1"/>
          <p:nvPr/>
        </p:nvSpPr>
        <p:spPr>
          <a:xfrm>
            <a:off x="4700016" y="1783080"/>
            <a:ext cx="914400" cy="914400"/>
          </a:xfrm>
          <a:prstGeom prst="rect">
            <a:avLst/>
          </a:prstGeom>
          <a:noFill/>
          <a:ln/>
        </p:spPr>
        <p:txBody>
          <a:bodyPr wrap="square" lIns="0" tIns="0" rIns="0" bIns="0" rtlCol="0" anchor="ctr"/>
          <a:lstStyle/>
          <a:p>
            <a:pPr algn="ctr" indent="0" marL="0">
              <a:buNone/>
            </a:pPr>
            <a:r>
              <a:rPr lang="en-US" sz="2400" b="1" dirty="0">
                <a:solidFill>
                  <a:schemeClr val="bg1"/>
                </a:solidFill>
              </a:rPr>
              <a:t>EU</a:t>
            </a:r>
            <a:endParaRPr lang="en-US" sz="2400" dirty="0"/>
          </a:p>
        </p:txBody>
      </p:sp>
      <p:sp>
        <p:nvSpPr>
          <p:cNvPr id="13" name="Jurisdiction name 2"/>
          <p:cNvSpPr txBox="1"/>
          <p:nvPr/>
        </p:nvSpPr>
        <p:spPr>
          <a:xfrm>
            <a:off x="5843016" y="1965960"/>
            <a:ext cx="1828800" cy="548640"/>
          </a:xfrm>
          <a:prstGeom prst="rect">
            <a:avLst/>
          </a:prstGeom>
          <a:noFill/>
          <a:ln/>
        </p:spPr>
        <p:txBody>
          <a:bodyPr wrap="square" lIns="0" tIns="0" rIns="0" bIns="0" rtlCol="0" anchor="ctr"/>
          <a:lstStyle/>
          <a:p>
            <a:pPr indent="0" marL="0">
              <a:buNone/>
            </a:pPr>
            <a:r>
              <a:rPr lang="en-US" sz="2600" b="1" dirty="0">
                <a:solidFill>
                  <a:schemeClr val="tx2"/>
                </a:solidFill>
              </a:rPr>
              <a:t>EU GDPR</a:t>
            </a:r>
            <a:endParaRPr lang="en-US" sz="2600" dirty="0"/>
          </a:p>
        </p:txBody>
      </p:sp>
      <p:sp>
        <p:nvSpPr>
          <p:cNvPr id="14" name="Instruments 2"/>
          <p:cNvSpPr txBox="1"/>
          <p:nvPr/>
        </p:nvSpPr>
        <p:spPr>
          <a:xfrm>
            <a:off x="4700016" y="3017520"/>
            <a:ext cx="2834640" cy="1097280"/>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Regulation (EU) 2016/679</a:t>
            </a:r>
            <a:endParaRPr lang="en-US" sz="1800" dirty="0"/>
          </a:p>
          <a:p>
            <a:pPr indent="0" marL="0">
              <a:spcAft>
                <a:spcPts val="800"/>
              </a:spcAft>
              <a:buNone/>
            </a:pPr>
            <a:r>
              <a:rPr lang="en-US" sz="1800" dirty="0">
                <a:solidFill>
                  <a:schemeClr val="tx1"/>
                </a:solidFill>
              </a:rPr>
              <a:t>Art. 28 — processor duties</a:t>
            </a:r>
            <a:endParaRPr lang="en-US" sz="1800" dirty="0"/>
          </a:p>
        </p:txBody>
      </p:sp>
      <p:sp>
        <p:nvSpPr>
          <p:cNvPr id="15" name="Link chip 2"/>
          <p:cNvSpPr/>
          <p:nvPr/>
        </p:nvSpPr>
        <p:spPr>
          <a:xfrm>
            <a:off x="4700016" y="4480560"/>
            <a:ext cx="2788920" cy="548640"/>
          </a:xfrm>
          <a:prstGeom prst="roundRect">
            <a:avLst>
              <a:gd name="adj" fmla="val 20000"/>
            </a:avLst>
          </a:prstGeom>
          <a:solidFill>
            <a:schemeClr val="bg1"/>
          </a:solidFill>
          <a:ln/>
        </p:spPr>
      </p:sp>
      <p:sp>
        <p:nvSpPr>
          <p:cNvPr id="16" name="Link text 2"/>
          <p:cNvSpPr txBox="1"/>
          <p:nvPr/>
        </p:nvSpPr>
        <p:spPr>
          <a:xfrm>
            <a:off x="4700016" y="4480560"/>
            <a:ext cx="2788920" cy="548640"/>
          </a:xfrm>
          <a:prstGeom prst="rect">
            <a:avLst/>
          </a:prstGeom>
          <a:noFill/>
          <a:ln/>
        </p:spPr>
        <p:txBody>
          <a:bodyPr wrap="square" lIns="0" tIns="0" rIns="0" bIns="0" rtlCol="0" anchor="ctr"/>
          <a:lstStyle/>
          <a:p>
            <a:pPr algn="ctr" indent="0" marL="0">
              <a:buNone/>
            </a:pPr>
            <a:r>
              <a:rPr lang="en-US" sz="1500" b="1" dirty="0">
                <a:solidFill>
                  <a:schemeClr val="accent1"/>
                </a:solidFill>
              </a:rPr>
              <a:t>eur-lex.europa.eu</a:t>
            </a:r>
            <a:endParaRPr lang="en-US" sz="1500" dirty="0"/>
          </a:p>
        </p:txBody>
      </p:sp>
      <p:sp>
        <p:nvSpPr>
          <p:cNvPr id="17" name="Jurisdiction card 3"/>
          <p:cNvSpPr/>
          <p:nvPr/>
        </p:nvSpPr>
        <p:spPr>
          <a:xfrm>
            <a:off x="8119872" y="1463040"/>
            <a:ext cx="3520440" cy="4023360"/>
          </a:xfrm>
          <a:prstGeom prst="roundRect">
            <a:avLst>
              <a:gd name="adj" fmla="val 3117"/>
            </a:avLst>
          </a:prstGeom>
          <a:solidFill>
            <a:schemeClr val="bg2"/>
          </a:solidFill>
          <a:ln/>
        </p:spPr>
      </p:sp>
      <p:sp>
        <p:nvSpPr>
          <p:cNvPr id="18" name="Jurisdiction badge 3"/>
          <p:cNvSpPr/>
          <p:nvPr/>
        </p:nvSpPr>
        <p:spPr>
          <a:xfrm>
            <a:off x="8485632" y="1783080"/>
            <a:ext cx="914400" cy="914400"/>
          </a:xfrm>
          <a:prstGeom prst="ellipse">
            <a:avLst/>
          </a:prstGeom>
          <a:solidFill>
            <a:schemeClr val="tx2"/>
          </a:solidFill>
          <a:ln/>
        </p:spPr>
      </p:sp>
      <p:sp>
        <p:nvSpPr>
          <p:cNvPr id="19" name="Jurisdiction code 3"/>
          <p:cNvSpPr txBox="1"/>
          <p:nvPr/>
        </p:nvSpPr>
        <p:spPr>
          <a:xfrm>
            <a:off x="8485632" y="1783080"/>
            <a:ext cx="914400" cy="914400"/>
          </a:xfrm>
          <a:prstGeom prst="rect">
            <a:avLst/>
          </a:prstGeom>
          <a:noFill/>
          <a:ln/>
        </p:spPr>
        <p:txBody>
          <a:bodyPr wrap="square" lIns="0" tIns="0" rIns="0" bIns="0" rtlCol="0" anchor="ctr"/>
          <a:lstStyle/>
          <a:p>
            <a:pPr algn="ctr" indent="0" marL="0">
              <a:buNone/>
            </a:pPr>
            <a:r>
              <a:rPr lang="en-US" sz="2400" b="1" dirty="0">
                <a:solidFill>
                  <a:schemeClr val="bg1"/>
                </a:solidFill>
              </a:rPr>
              <a:t>AE</a:t>
            </a:r>
            <a:endParaRPr lang="en-US" sz="2400" dirty="0"/>
          </a:p>
        </p:txBody>
      </p:sp>
      <p:sp>
        <p:nvSpPr>
          <p:cNvPr id="20" name="Jurisdiction name 3"/>
          <p:cNvSpPr txBox="1"/>
          <p:nvPr/>
        </p:nvSpPr>
        <p:spPr>
          <a:xfrm>
            <a:off x="9628632" y="1965960"/>
            <a:ext cx="1828800" cy="548640"/>
          </a:xfrm>
          <a:prstGeom prst="rect">
            <a:avLst/>
          </a:prstGeom>
          <a:noFill/>
          <a:ln/>
        </p:spPr>
        <p:txBody>
          <a:bodyPr wrap="square" lIns="0" tIns="0" rIns="0" bIns="0" rtlCol="0" anchor="ctr"/>
          <a:lstStyle/>
          <a:p>
            <a:pPr indent="0" marL="0">
              <a:buNone/>
            </a:pPr>
            <a:r>
              <a:rPr lang="en-US" sz="2600" b="1" dirty="0">
                <a:solidFill>
                  <a:schemeClr val="tx2"/>
                </a:solidFill>
              </a:rPr>
              <a:t>UAE</a:t>
            </a:r>
            <a:endParaRPr lang="en-US" sz="2600" dirty="0"/>
          </a:p>
        </p:txBody>
      </p:sp>
      <p:sp>
        <p:nvSpPr>
          <p:cNvPr id="21" name="Instruments 3"/>
          <p:cNvSpPr txBox="1"/>
          <p:nvPr/>
        </p:nvSpPr>
        <p:spPr>
          <a:xfrm>
            <a:off x="8485632" y="3017520"/>
            <a:ext cx="2834640" cy="1097280"/>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Federal Decree-Law 45/2021</a:t>
            </a:r>
            <a:endParaRPr lang="en-US" sz="1800" dirty="0"/>
          </a:p>
          <a:p>
            <a:pPr indent="0" marL="0">
              <a:spcAft>
                <a:spcPts val="800"/>
              </a:spcAft>
              <a:buNone/>
            </a:pPr>
            <a:r>
              <a:rPr lang="en-US" sz="1800" dirty="0">
                <a:solidFill>
                  <a:schemeClr val="tx1"/>
                </a:solidFill>
              </a:rPr>
              <a:t>Personal data protection</a:t>
            </a:r>
            <a:endParaRPr lang="en-US" sz="1800" dirty="0"/>
          </a:p>
        </p:txBody>
      </p:sp>
      <p:sp>
        <p:nvSpPr>
          <p:cNvPr id="22" name="Link chip 3"/>
          <p:cNvSpPr/>
          <p:nvPr/>
        </p:nvSpPr>
        <p:spPr>
          <a:xfrm>
            <a:off x="8485632" y="4480560"/>
            <a:ext cx="2788920" cy="548640"/>
          </a:xfrm>
          <a:prstGeom prst="roundRect">
            <a:avLst>
              <a:gd name="adj" fmla="val 20000"/>
            </a:avLst>
          </a:prstGeom>
          <a:solidFill>
            <a:schemeClr val="bg1"/>
          </a:solidFill>
          <a:ln/>
        </p:spPr>
      </p:sp>
      <p:sp>
        <p:nvSpPr>
          <p:cNvPr id="23" name="Link text 3"/>
          <p:cNvSpPr txBox="1"/>
          <p:nvPr/>
        </p:nvSpPr>
        <p:spPr>
          <a:xfrm>
            <a:off x="8485632" y="4480560"/>
            <a:ext cx="2788920" cy="548640"/>
          </a:xfrm>
          <a:prstGeom prst="rect">
            <a:avLst/>
          </a:prstGeom>
          <a:noFill/>
          <a:ln/>
        </p:spPr>
        <p:txBody>
          <a:bodyPr wrap="square" lIns="0" tIns="0" rIns="0" bIns="0" rtlCol="0" anchor="ctr"/>
          <a:lstStyle/>
          <a:p>
            <a:pPr algn="ctr" indent="0" marL="0">
              <a:buNone/>
            </a:pPr>
            <a:r>
              <a:rPr lang="en-US" sz="1500" b="1" dirty="0">
                <a:solidFill>
                  <a:schemeClr val="accent1"/>
                </a:solidFill>
              </a:rPr>
              <a:t>uaelegislation.gov.ae</a:t>
            </a:r>
            <a:endParaRPr lang="en-US" sz="1500" dirty="0"/>
          </a:p>
        </p:txBody>
      </p:sp>
      <p:sp>
        <p:nvSpPr>
          <p:cNvPr id="24" name="Takeaway"/>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800" b="1" dirty="0">
                <a:solidFill>
                  <a:schemeClr val="tx2"/>
                </a:solidFill>
              </a:rPr>
              <a:t>Citations come from a curated jurisdiction data store — not free-form model output.</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Lightweight, structured, explainable</a:t>
            </a:r>
            <a:endParaRPr lang="en-US" sz="3600" dirty="0"/>
          </a:p>
        </p:txBody>
      </p:sp>
      <p:sp>
        <p:nvSpPr>
          <p:cNvPr id="3" name="Arch box 1"/>
          <p:cNvSpPr/>
          <p:nvPr/>
        </p:nvSpPr>
        <p:spPr>
          <a:xfrm>
            <a:off x="594360" y="1554480"/>
            <a:ext cx="2377440" cy="2194560"/>
          </a:xfrm>
          <a:prstGeom prst="roundRect">
            <a:avLst>
              <a:gd name="adj" fmla="val 5000"/>
            </a:avLst>
          </a:prstGeom>
          <a:solidFill>
            <a:schemeClr val="bg2"/>
          </a:solidFill>
          <a:ln/>
        </p:spPr>
      </p:sp>
      <p:sp>
        <p:nvSpPr>
          <p:cNvPr id="4" name="Arch 1 circle"/>
          <p:cNvSpPr/>
          <p:nvPr/>
        </p:nvSpPr>
        <p:spPr>
          <a:xfrm>
            <a:off x="868680" y="1783080"/>
            <a:ext cx="731520" cy="731520"/>
          </a:xfrm>
          <a:prstGeom prst="ellipse">
            <a:avLst/>
          </a:prstGeom>
          <a:solidFill>
            <a:schemeClr val="tx2"/>
          </a:solidFill>
          <a:ln/>
        </p:spPr>
      </p:sp>
      <p:pic>
        <p:nvPicPr>
          <p:cNvPr id="5" name="Arch 1 icon" descr="Arch 1 icon">    </p:cNvPr>
          <p:cNvPicPr>
            <a:picLocks noChangeAspect="1"/>
          </p:cNvPicPr>
          <p:nvPr/>
        </p:nvPicPr>
        <p:blipFill>
          <a:blip r:embed="rId1"/>
          <a:stretch>
            <a:fillRect/>
          </a:stretch>
        </p:blipFill>
        <p:spPr>
          <a:xfrm>
            <a:off x="1051560" y="1965960"/>
            <a:ext cx="365760" cy="365760"/>
          </a:xfrm>
          <a:prstGeom prst="rect">
            <a:avLst/>
          </a:prstGeom>
        </p:spPr>
      </p:pic>
      <p:sp>
        <p:nvSpPr>
          <p:cNvPr id="6" name="Arch title 1"/>
          <p:cNvSpPr txBox="1"/>
          <p:nvPr/>
        </p:nvSpPr>
        <p:spPr>
          <a:xfrm>
            <a:off x="868680" y="2697480"/>
            <a:ext cx="1920240" cy="365760"/>
          </a:xfrm>
          <a:prstGeom prst="rect">
            <a:avLst/>
          </a:prstGeom>
          <a:noFill/>
          <a:ln/>
        </p:spPr>
        <p:txBody>
          <a:bodyPr wrap="square" lIns="0" tIns="0" rIns="0" bIns="0" rtlCol="0" anchor="t"/>
          <a:lstStyle/>
          <a:p>
            <a:pPr indent="0" marL="0">
              <a:buNone/>
            </a:pPr>
            <a:r>
              <a:rPr lang="en-US" sz="2000" b="1" dirty="0">
                <a:solidFill>
                  <a:schemeClr val="tx2"/>
                </a:solidFill>
              </a:rPr>
              <a:t>Browser SPA</a:t>
            </a:r>
            <a:endParaRPr lang="en-US" sz="2000" dirty="0"/>
          </a:p>
        </p:txBody>
      </p:sp>
      <p:sp>
        <p:nvSpPr>
          <p:cNvPr id="7" name="Arch sub 1"/>
          <p:cNvSpPr txBox="1"/>
          <p:nvPr/>
        </p:nvSpPr>
        <p:spPr>
          <a:xfrm>
            <a:off x="868680" y="3108960"/>
            <a:ext cx="1920240" cy="548640"/>
          </a:xfrm>
          <a:prstGeom prst="rect">
            <a:avLst/>
          </a:prstGeom>
          <a:noFill/>
          <a:ln/>
        </p:spPr>
        <p:txBody>
          <a:bodyPr wrap="square" lIns="0" tIns="0" rIns="0" bIns="0" rtlCol="0" anchor="t"/>
          <a:lstStyle/>
          <a:p>
            <a:pPr indent="0" marL="0">
              <a:buNone/>
            </a:pPr>
            <a:r>
              <a:rPr lang="en-US" sz="1400" dirty="0">
                <a:solidFill>
                  <a:schemeClr val="tx1"/>
                </a:solidFill>
              </a:rPr>
              <a:t>HTML5 · CSS3 · Vanilla JS</a:t>
            </a:r>
            <a:endParaRPr lang="en-US" sz="1400" dirty="0"/>
          </a:p>
        </p:txBody>
      </p:sp>
      <p:sp>
        <p:nvSpPr>
          <p:cNvPr id="8" name="Arch arrow 1"/>
          <p:cNvSpPr/>
          <p:nvPr/>
        </p:nvSpPr>
        <p:spPr>
          <a:xfrm>
            <a:off x="3044952" y="2514600"/>
            <a:ext cx="365760" cy="320040"/>
          </a:xfrm>
          <a:prstGeom prst="rightArrow">
            <a:avLst/>
          </a:prstGeom>
          <a:solidFill>
            <a:schemeClr val="accent1"/>
          </a:solidFill>
          <a:ln/>
        </p:spPr>
      </p:sp>
      <p:sp>
        <p:nvSpPr>
          <p:cNvPr id="9" name="Arch box 2"/>
          <p:cNvSpPr/>
          <p:nvPr/>
        </p:nvSpPr>
        <p:spPr>
          <a:xfrm>
            <a:off x="3474720" y="1554480"/>
            <a:ext cx="2377440" cy="2194560"/>
          </a:xfrm>
          <a:prstGeom prst="roundRect">
            <a:avLst>
              <a:gd name="adj" fmla="val 5000"/>
            </a:avLst>
          </a:prstGeom>
          <a:solidFill>
            <a:schemeClr val="bg2"/>
          </a:solidFill>
          <a:ln/>
        </p:spPr>
      </p:sp>
      <p:sp>
        <p:nvSpPr>
          <p:cNvPr id="10" name="Arch 2 circle"/>
          <p:cNvSpPr/>
          <p:nvPr/>
        </p:nvSpPr>
        <p:spPr>
          <a:xfrm>
            <a:off x="3749040" y="1783080"/>
            <a:ext cx="731520" cy="731520"/>
          </a:xfrm>
          <a:prstGeom prst="ellipse">
            <a:avLst/>
          </a:prstGeom>
          <a:solidFill>
            <a:schemeClr val="tx2"/>
          </a:solidFill>
          <a:ln/>
        </p:spPr>
      </p:sp>
      <p:pic>
        <p:nvPicPr>
          <p:cNvPr id="11" name="Arch 2 icon" descr="Arch 2 icon">    </p:cNvPr>
          <p:cNvPicPr>
            <a:picLocks noChangeAspect="1"/>
          </p:cNvPicPr>
          <p:nvPr/>
        </p:nvPicPr>
        <p:blipFill>
          <a:blip r:embed="rId2"/>
          <a:stretch>
            <a:fillRect/>
          </a:stretch>
        </p:blipFill>
        <p:spPr>
          <a:xfrm>
            <a:off x="3931920" y="1965960"/>
            <a:ext cx="365760" cy="365760"/>
          </a:xfrm>
          <a:prstGeom prst="rect">
            <a:avLst/>
          </a:prstGeom>
        </p:spPr>
      </p:pic>
      <p:sp>
        <p:nvSpPr>
          <p:cNvPr id="12" name="Arch title 2"/>
          <p:cNvSpPr txBox="1"/>
          <p:nvPr/>
        </p:nvSpPr>
        <p:spPr>
          <a:xfrm>
            <a:off x="3749040" y="2697480"/>
            <a:ext cx="1920240" cy="365760"/>
          </a:xfrm>
          <a:prstGeom prst="rect">
            <a:avLst/>
          </a:prstGeom>
          <a:noFill/>
          <a:ln/>
        </p:spPr>
        <p:txBody>
          <a:bodyPr wrap="square" lIns="0" tIns="0" rIns="0" bIns="0" rtlCol="0" anchor="t"/>
          <a:lstStyle/>
          <a:p>
            <a:pPr indent="0" marL="0">
              <a:buNone/>
            </a:pPr>
            <a:r>
              <a:rPr lang="en-US" sz="2000" b="1" dirty="0">
                <a:solidFill>
                  <a:schemeClr val="tx2"/>
                </a:solidFill>
              </a:rPr>
              <a:t>FastAPI</a:t>
            </a:r>
            <a:endParaRPr lang="en-US" sz="2000" dirty="0"/>
          </a:p>
        </p:txBody>
      </p:sp>
      <p:sp>
        <p:nvSpPr>
          <p:cNvPr id="13" name="Arch sub 2"/>
          <p:cNvSpPr txBox="1"/>
          <p:nvPr/>
        </p:nvSpPr>
        <p:spPr>
          <a:xfrm>
            <a:off x="3749040" y="3108960"/>
            <a:ext cx="1920240" cy="548640"/>
          </a:xfrm>
          <a:prstGeom prst="rect">
            <a:avLst/>
          </a:prstGeom>
          <a:noFill/>
          <a:ln/>
        </p:spPr>
        <p:txBody>
          <a:bodyPr wrap="square" lIns="0" tIns="0" rIns="0" bIns="0" rtlCol="0" anchor="t"/>
          <a:lstStyle/>
          <a:p>
            <a:pPr indent="0" marL="0">
              <a:buNone/>
            </a:pPr>
            <a:r>
              <a:rPr lang="en-US" sz="1400" dirty="0">
                <a:solidFill>
                  <a:schemeClr val="tx1"/>
                </a:solidFill>
              </a:rPr>
              <a:t>Python · Uvicorn (ASGI)</a:t>
            </a:r>
            <a:endParaRPr lang="en-US" sz="1400" dirty="0"/>
          </a:p>
        </p:txBody>
      </p:sp>
      <p:sp>
        <p:nvSpPr>
          <p:cNvPr id="14" name="Arch arrow 2"/>
          <p:cNvSpPr/>
          <p:nvPr/>
        </p:nvSpPr>
        <p:spPr>
          <a:xfrm>
            <a:off x="5925312" y="2514600"/>
            <a:ext cx="365760" cy="320040"/>
          </a:xfrm>
          <a:prstGeom prst="rightArrow">
            <a:avLst/>
          </a:prstGeom>
          <a:solidFill>
            <a:schemeClr val="accent1"/>
          </a:solidFill>
          <a:ln/>
        </p:spPr>
      </p:sp>
      <p:sp>
        <p:nvSpPr>
          <p:cNvPr id="15" name="Arch box 3"/>
          <p:cNvSpPr/>
          <p:nvPr/>
        </p:nvSpPr>
        <p:spPr>
          <a:xfrm>
            <a:off x="6355080" y="1554480"/>
            <a:ext cx="2377440" cy="2194560"/>
          </a:xfrm>
          <a:prstGeom prst="roundRect">
            <a:avLst>
              <a:gd name="adj" fmla="val 5000"/>
            </a:avLst>
          </a:prstGeom>
          <a:solidFill>
            <a:schemeClr val="bg2"/>
          </a:solidFill>
          <a:ln/>
        </p:spPr>
      </p:sp>
      <p:sp>
        <p:nvSpPr>
          <p:cNvPr id="16" name="Arch 3 circle"/>
          <p:cNvSpPr/>
          <p:nvPr/>
        </p:nvSpPr>
        <p:spPr>
          <a:xfrm>
            <a:off x="6629400" y="1783080"/>
            <a:ext cx="731520" cy="731520"/>
          </a:xfrm>
          <a:prstGeom prst="ellipse">
            <a:avLst/>
          </a:prstGeom>
          <a:solidFill>
            <a:schemeClr val="tx2"/>
          </a:solidFill>
          <a:ln/>
        </p:spPr>
      </p:sp>
      <p:pic>
        <p:nvPicPr>
          <p:cNvPr id="17" name="Arch 3 icon" descr="Arch 3 icon">    </p:cNvPr>
          <p:cNvPicPr>
            <a:picLocks noChangeAspect="1"/>
          </p:cNvPicPr>
          <p:nvPr/>
        </p:nvPicPr>
        <p:blipFill>
          <a:blip r:embed="rId3"/>
          <a:stretch>
            <a:fillRect/>
          </a:stretch>
        </p:blipFill>
        <p:spPr>
          <a:xfrm>
            <a:off x="6812280" y="1965960"/>
            <a:ext cx="365760" cy="365760"/>
          </a:xfrm>
          <a:prstGeom prst="rect">
            <a:avLst/>
          </a:prstGeom>
        </p:spPr>
      </p:pic>
      <p:sp>
        <p:nvSpPr>
          <p:cNvPr id="18" name="Arch title 3"/>
          <p:cNvSpPr txBox="1"/>
          <p:nvPr/>
        </p:nvSpPr>
        <p:spPr>
          <a:xfrm>
            <a:off x="6629400" y="2697480"/>
            <a:ext cx="1920240" cy="365760"/>
          </a:xfrm>
          <a:prstGeom prst="rect">
            <a:avLst/>
          </a:prstGeom>
          <a:noFill/>
          <a:ln/>
        </p:spPr>
        <p:txBody>
          <a:bodyPr wrap="square" lIns="0" tIns="0" rIns="0" bIns="0" rtlCol="0" anchor="t"/>
          <a:lstStyle/>
          <a:p>
            <a:pPr indent="0" marL="0">
              <a:buNone/>
            </a:pPr>
            <a:r>
              <a:rPr lang="en-US" sz="2000" b="1" dirty="0">
                <a:solidFill>
                  <a:schemeClr val="tx2"/>
                </a:solidFill>
              </a:rPr>
              <a:t>Gemini 2.5</a:t>
            </a:r>
            <a:endParaRPr lang="en-US" sz="2000" dirty="0"/>
          </a:p>
        </p:txBody>
      </p:sp>
      <p:sp>
        <p:nvSpPr>
          <p:cNvPr id="19" name="Arch sub 3"/>
          <p:cNvSpPr txBox="1"/>
          <p:nvPr/>
        </p:nvSpPr>
        <p:spPr>
          <a:xfrm>
            <a:off x="6629400" y="3108960"/>
            <a:ext cx="1920240" cy="548640"/>
          </a:xfrm>
          <a:prstGeom prst="rect">
            <a:avLst/>
          </a:prstGeom>
          <a:noFill/>
          <a:ln/>
        </p:spPr>
        <p:txBody>
          <a:bodyPr wrap="square" lIns="0" tIns="0" rIns="0" bIns="0" rtlCol="0" anchor="t"/>
          <a:lstStyle/>
          <a:p>
            <a:pPr indent="0" marL="0">
              <a:buNone/>
            </a:pPr>
            <a:r>
              <a:rPr lang="en-US" sz="1400" dirty="0">
                <a:solidFill>
                  <a:schemeClr val="tx1"/>
                </a:solidFill>
              </a:rPr>
              <a:t>google-genai SDK</a:t>
            </a:r>
            <a:endParaRPr lang="en-US" sz="1400" dirty="0"/>
          </a:p>
        </p:txBody>
      </p:sp>
      <p:sp>
        <p:nvSpPr>
          <p:cNvPr id="20" name="Arch arrow 3"/>
          <p:cNvSpPr/>
          <p:nvPr/>
        </p:nvSpPr>
        <p:spPr>
          <a:xfrm>
            <a:off x="8805672" y="2514600"/>
            <a:ext cx="365760" cy="320040"/>
          </a:xfrm>
          <a:prstGeom prst="rightArrow">
            <a:avLst/>
          </a:prstGeom>
          <a:solidFill>
            <a:schemeClr val="accent1"/>
          </a:solidFill>
          <a:ln/>
        </p:spPr>
      </p:sp>
      <p:sp>
        <p:nvSpPr>
          <p:cNvPr id="21" name="Arch box 4"/>
          <p:cNvSpPr/>
          <p:nvPr/>
        </p:nvSpPr>
        <p:spPr>
          <a:xfrm>
            <a:off x="9235440" y="1554480"/>
            <a:ext cx="2377440" cy="2194560"/>
          </a:xfrm>
          <a:prstGeom prst="roundRect">
            <a:avLst>
              <a:gd name="adj" fmla="val 5000"/>
            </a:avLst>
          </a:prstGeom>
          <a:solidFill>
            <a:schemeClr val="bg2"/>
          </a:solidFill>
          <a:ln/>
        </p:spPr>
      </p:sp>
      <p:sp>
        <p:nvSpPr>
          <p:cNvPr id="22" name="Arch 4 circle"/>
          <p:cNvSpPr/>
          <p:nvPr/>
        </p:nvSpPr>
        <p:spPr>
          <a:xfrm>
            <a:off x="9509760" y="1783080"/>
            <a:ext cx="731520" cy="731520"/>
          </a:xfrm>
          <a:prstGeom prst="ellipse">
            <a:avLst/>
          </a:prstGeom>
          <a:solidFill>
            <a:schemeClr val="tx2"/>
          </a:solidFill>
          <a:ln/>
        </p:spPr>
      </p:sp>
      <p:pic>
        <p:nvPicPr>
          <p:cNvPr id="23" name="Arch 4 icon" descr="Arch 4 icon">    </p:cNvPr>
          <p:cNvPicPr>
            <a:picLocks noChangeAspect="1"/>
          </p:cNvPicPr>
          <p:nvPr/>
        </p:nvPicPr>
        <p:blipFill>
          <a:blip r:embed="rId4"/>
          <a:stretch>
            <a:fillRect/>
          </a:stretch>
        </p:blipFill>
        <p:spPr>
          <a:xfrm>
            <a:off x="9692640" y="1965960"/>
            <a:ext cx="365760" cy="365760"/>
          </a:xfrm>
          <a:prstGeom prst="rect">
            <a:avLst/>
          </a:prstGeom>
        </p:spPr>
      </p:pic>
      <p:sp>
        <p:nvSpPr>
          <p:cNvPr id="24" name="Arch title 4"/>
          <p:cNvSpPr txBox="1"/>
          <p:nvPr/>
        </p:nvSpPr>
        <p:spPr>
          <a:xfrm>
            <a:off x="9509760" y="2697480"/>
            <a:ext cx="1920240" cy="365760"/>
          </a:xfrm>
          <a:prstGeom prst="rect">
            <a:avLst/>
          </a:prstGeom>
          <a:noFill/>
          <a:ln/>
        </p:spPr>
        <p:txBody>
          <a:bodyPr wrap="square" lIns="0" tIns="0" rIns="0" bIns="0" rtlCol="0" anchor="t"/>
          <a:lstStyle/>
          <a:p>
            <a:pPr indent="0" marL="0">
              <a:buNone/>
            </a:pPr>
            <a:r>
              <a:rPr lang="en-US" sz="2000" b="1" dirty="0">
                <a:solidFill>
                  <a:schemeClr val="tx2"/>
                </a:solidFill>
              </a:rPr>
              <a:t>Pydantic v2</a:t>
            </a:r>
            <a:endParaRPr lang="en-US" sz="2000" dirty="0"/>
          </a:p>
        </p:txBody>
      </p:sp>
      <p:sp>
        <p:nvSpPr>
          <p:cNvPr id="25" name="Arch sub 4"/>
          <p:cNvSpPr txBox="1"/>
          <p:nvPr/>
        </p:nvSpPr>
        <p:spPr>
          <a:xfrm>
            <a:off x="9509760" y="3108960"/>
            <a:ext cx="1920240" cy="548640"/>
          </a:xfrm>
          <a:prstGeom prst="rect">
            <a:avLst/>
          </a:prstGeom>
          <a:noFill/>
          <a:ln/>
        </p:spPr>
        <p:txBody>
          <a:bodyPr wrap="square" lIns="0" tIns="0" rIns="0" bIns="0" rtlCol="0" anchor="t"/>
          <a:lstStyle/>
          <a:p>
            <a:pPr indent="0" marL="0">
              <a:buNone/>
            </a:pPr>
            <a:r>
              <a:rPr lang="en-US" sz="1400" dirty="0">
                <a:solidFill>
                  <a:schemeClr val="tx1"/>
                </a:solidFill>
              </a:rPr>
              <a:t>Validated structured JSON</a:t>
            </a:r>
            <a:endParaRPr lang="en-US" sz="1400" dirty="0"/>
          </a:p>
        </p:txBody>
      </p:sp>
      <p:sp>
        <p:nvSpPr>
          <p:cNvPr id="26" name="Property card 1"/>
          <p:cNvSpPr/>
          <p:nvPr/>
        </p:nvSpPr>
        <p:spPr>
          <a:xfrm>
            <a:off x="548640" y="4114800"/>
            <a:ext cx="3520440" cy="1737360"/>
          </a:xfrm>
          <a:prstGeom prst="roundRect">
            <a:avLst>
              <a:gd name="adj" fmla="val 6316"/>
            </a:avLst>
          </a:prstGeom>
          <a:solidFill>
            <a:schemeClr val="bg2"/>
          </a:solidFill>
          <a:ln/>
        </p:spPr>
      </p:sp>
      <p:sp>
        <p:nvSpPr>
          <p:cNvPr id="27" name="Property title 1"/>
          <p:cNvSpPr txBox="1"/>
          <p:nvPr/>
        </p:nvSpPr>
        <p:spPr>
          <a:xfrm>
            <a:off x="822960" y="4297680"/>
            <a:ext cx="2971800" cy="365760"/>
          </a:xfrm>
          <a:prstGeom prst="rect">
            <a:avLst/>
          </a:prstGeom>
          <a:noFill/>
          <a:ln/>
        </p:spPr>
        <p:txBody>
          <a:bodyPr wrap="square" lIns="0" tIns="0" rIns="0" bIns="0" rtlCol="0" anchor="t"/>
          <a:lstStyle/>
          <a:p>
            <a:pPr indent="0" marL="0">
              <a:buNone/>
            </a:pPr>
            <a:r>
              <a:rPr lang="en-US" sz="1800" b="1" dirty="0">
                <a:solidFill>
                  <a:schemeClr val="accent1"/>
                </a:solidFill>
              </a:rPr>
              <a:t>Deterministic scoring</a:t>
            </a:r>
            <a:endParaRPr lang="en-US" sz="1800" dirty="0"/>
          </a:p>
        </p:txBody>
      </p:sp>
      <p:sp>
        <p:nvSpPr>
          <p:cNvPr id="28" name="Property body 1"/>
          <p:cNvSpPr txBox="1"/>
          <p:nvPr/>
        </p:nvSpPr>
        <p:spPr>
          <a:xfrm>
            <a:off x="822960" y="4754880"/>
            <a:ext cx="2971800" cy="1005840"/>
          </a:xfrm>
          <a:prstGeom prst="rect">
            <a:avLst/>
          </a:prstGeom>
          <a:noFill/>
          <a:ln/>
        </p:spPr>
        <p:txBody>
          <a:bodyPr wrap="square" lIns="0" tIns="0" rIns="0" bIns="0" rtlCol="0" anchor="t"/>
          <a:lstStyle/>
          <a:p>
            <a:pPr indent="0" marL="0">
              <a:buNone/>
            </a:pPr>
            <a:r>
              <a:rPr lang="en-US" sz="1400" dirty="0">
                <a:solidFill>
                  <a:schemeClr val="tx1"/>
                </a:solidFill>
              </a:rPr>
              <a:t>R = min(10, Σ weight × severity) — computed in code, not guessed by the model.</a:t>
            </a:r>
            <a:endParaRPr lang="en-US" sz="1400" dirty="0"/>
          </a:p>
        </p:txBody>
      </p:sp>
      <p:sp>
        <p:nvSpPr>
          <p:cNvPr id="29" name="Property card 2"/>
          <p:cNvSpPr/>
          <p:nvPr/>
        </p:nvSpPr>
        <p:spPr>
          <a:xfrm>
            <a:off x="4334256" y="4114800"/>
            <a:ext cx="3520440" cy="1737360"/>
          </a:xfrm>
          <a:prstGeom prst="roundRect">
            <a:avLst>
              <a:gd name="adj" fmla="val 6316"/>
            </a:avLst>
          </a:prstGeom>
          <a:solidFill>
            <a:schemeClr val="bg2"/>
          </a:solidFill>
          <a:ln/>
        </p:spPr>
      </p:sp>
      <p:sp>
        <p:nvSpPr>
          <p:cNvPr id="30" name="Property title 2"/>
          <p:cNvSpPr txBox="1"/>
          <p:nvPr/>
        </p:nvSpPr>
        <p:spPr>
          <a:xfrm>
            <a:off x="4608576" y="4297680"/>
            <a:ext cx="2971800" cy="365760"/>
          </a:xfrm>
          <a:prstGeom prst="rect">
            <a:avLst/>
          </a:prstGeom>
          <a:noFill/>
          <a:ln/>
        </p:spPr>
        <p:txBody>
          <a:bodyPr wrap="square" lIns="0" tIns="0" rIns="0" bIns="0" rtlCol="0" anchor="t"/>
          <a:lstStyle/>
          <a:p>
            <a:pPr indent="0" marL="0">
              <a:buNone/>
            </a:pPr>
            <a:r>
              <a:rPr lang="en-US" sz="1800" b="1" dirty="0">
                <a:solidFill>
                  <a:schemeClr val="accent1"/>
                </a:solidFill>
              </a:rPr>
              <a:t>Stateless by design</a:t>
            </a:r>
            <a:endParaRPr lang="en-US" sz="1800" dirty="0"/>
          </a:p>
        </p:txBody>
      </p:sp>
      <p:sp>
        <p:nvSpPr>
          <p:cNvPr id="31" name="Property body 2"/>
          <p:cNvSpPr txBox="1"/>
          <p:nvPr/>
        </p:nvSpPr>
        <p:spPr>
          <a:xfrm>
            <a:off x="4608576" y="4754880"/>
            <a:ext cx="2971800" cy="1005840"/>
          </a:xfrm>
          <a:prstGeom prst="rect">
            <a:avLst/>
          </a:prstGeom>
          <a:noFill/>
          <a:ln/>
        </p:spPr>
        <p:txBody>
          <a:bodyPr wrap="square" lIns="0" tIns="0" rIns="0" bIns="0" rtlCol="0" anchor="t"/>
          <a:lstStyle/>
          <a:p>
            <a:pPr indent="0" marL="0">
              <a:buNone/>
            </a:pPr>
            <a:r>
              <a:rPr lang="en-US" sz="1400" dirty="0">
                <a:solidFill>
                  <a:schemeClr val="tx1"/>
                </a:solidFill>
              </a:rPr>
              <a:t>No database. Contract text is processed per request.</a:t>
            </a:r>
            <a:endParaRPr lang="en-US" sz="1400" dirty="0"/>
          </a:p>
        </p:txBody>
      </p:sp>
      <p:sp>
        <p:nvSpPr>
          <p:cNvPr id="32" name="Property card 3"/>
          <p:cNvSpPr/>
          <p:nvPr/>
        </p:nvSpPr>
        <p:spPr>
          <a:xfrm>
            <a:off x="8119872" y="4114800"/>
            <a:ext cx="3520440" cy="1737360"/>
          </a:xfrm>
          <a:prstGeom prst="roundRect">
            <a:avLst>
              <a:gd name="adj" fmla="val 6316"/>
            </a:avLst>
          </a:prstGeom>
          <a:solidFill>
            <a:schemeClr val="bg2"/>
          </a:solidFill>
          <a:ln/>
        </p:spPr>
      </p:sp>
      <p:sp>
        <p:nvSpPr>
          <p:cNvPr id="33" name="Property title 3"/>
          <p:cNvSpPr txBox="1"/>
          <p:nvPr/>
        </p:nvSpPr>
        <p:spPr>
          <a:xfrm>
            <a:off x="8394192" y="4297680"/>
            <a:ext cx="2971800" cy="365760"/>
          </a:xfrm>
          <a:prstGeom prst="rect">
            <a:avLst/>
          </a:prstGeom>
          <a:noFill/>
          <a:ln/>
        </p:spPr>
        <p:txBody>
          <a:bodyPr wrap="square" lIns="0" tIns="0" rIns="0" bIns="0" rtlCol="0" anchor="t"/>
          <a:lstStyle/>
          <a:p>
            <a:pPr indent="0" marL="0">
              <a:buNone/>
            </a:pPr>
            <a:r>
              <a:rPr lang="en-US" sz="1800" b="1" dirty="0">
                <a:solidFill>
                  <a:schemeClr val="accent1"/>
                </a:solidFill>
              </a:rPr>
              <a:t>Zero build step</a:t>
            </a:r>
            <a:endParaRPr lang="en-US" sz="1800" dirty="0"/>
          </a:p>
        </p:txBody>
      </p:sp>
      <p:sp>
        <p:nvSpPr>
          <p:cNvPr id="34" name="Property body 3"/>
          <p:cNvSpPr txBox="1"/>
          <p:nvPr/>
        </p:nvSpPr>
        <p:spPr>
          <a:xfrm>
            <a:off x="8394192" y="4754880"/>
            <a:ext cx="2971800" cy="1005840"/>
          </a:xfrm>
          <a:prstGeom prst="rect">
            <a:avLst/>
          </a:prstGeom>
          <a:noFill/>
          <a:ln/>
        </p:spPr>
        <p:txBody>
          <a:bodyPr wrap="square" lIns="0" tIns="0" rIns="0" bIns="0" rtlCol="0" anchor="t"/>
          <a:lstStyle/>
          <a:p>
            <a:pPr indent="0" marL="0">
              <a:buNone/>
            </a:pPr>
            <a:r>
              <a:rPr lang="en-US" sz="1400" dirty="0">
                <a:solidFill>
                  <a:schemeClr val="tx1"/>
                </a:solidFill>
              </a:rPr>
              <a:t>Pure HTML/CSS/JS — runs anywhere, loads instantly.</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Live demo: five steps</a:t>
            </a:r>
            <a:endParaRPr lang="en-US" sz="3600" dirty="0"/>
          </a:p>
        </p:txBody>
      </p:sp>
      <p:sp>
        <p:nvSpPr>
          <p:cNvPr id="3" name="Demo row 1"/>
          <p:cNvSpPr/>
          <p:nvPr/>
        </p:nvSpPr>
        <p:spPr>
          <a:xfrm>
            <a:off x="548640" y="1463040"/>
            <a:ext cx="11091672" cy="777240"/>
          </a:xfrm>
          <a:prstGeom prst="roundRect">
            <a:avLst>
              <a:gd name="adj" fmla="val 14118"/>
            </a:avLst>
          </a:prstGeom>
          <a:solidFill>
            <a:schemeClr val="bg2"/>
          </a:solidFill>
          <a:ln/>
        </p:spPr>
      </p:sp>
      <p:sp>
        <p:nvSpPr>
          <p:cNvPr id="4" name="Demo number circle 1"/>
          <p:cNvSpPr/>
          <p:nvPr/>
        </p:nvSpPr>
        <p:spPr>
          <a:xfrm>
            <a:off x="777240" y="1554480"/>
            <a:ext cx="594360" cy="594360"/>
          </a:xfrm>
          <a:prstGeom prst="ellipse">
            <a:avLst/>
          </a:prstGeom>
          <a:solidFill>
            <a:schemeClr val="accent1"/>
          </a:solidFill>
          <a:ln/>
        </p:spPr>
      </p:sp>
      <p:sp>
        <p:nvSpPr>
          <p:cNvPr id="5" name="Demo number 1"/>
          <p:cNvSpPr txBox="1"/>
          <p:nvPr/>
        </p:nvSpPr>
        <p:spPr>
          <a:xfrm>
            <a:off x="77724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Demo title 1"/>
          <p:cNvSpPr txBox="1"/>
          <p:nvPr/>
        </p:nvSpPr>
        <p:spPr>
          <a:xfrm>
            <a:off x="1645920" y="1463040"/>
            <a:ext cx="1828800" cy="777240"/>
          </a:xfrm>
          <a:prstGeom prst="rect">
            <a:avLst/>
          </a:prstGeom>
          <a:noFill/>
          <a:ln/>
        </p:spPr>
        <p:txBody>
          <a:bodyPr wrap="square" lIns="0" tIns="0" rIns="0" bIns="0" rtlCol="0" anchor="ctr"/>
          <a:lstStyle/>
          <a:p>
            <a:pPr indent="0" marL="0">
              <a:buNone/>
            </a:pPr>
            <a:r>
              <a:rPr lang="en-US" sz="2000" b="1" dirty="0">
                <a:solidFill>
                  <a:schemeClr val="tx2"/>
                </a:solidFill>
              </a:rPr>
              <a:t>Upload</a:t>
            </a:r>
            <a:endParaRPr lang="en-US" sz="2000" dirty="0"/>
          </a:p>
        </p:txBody>
      </p:sp>
      <p:sp>
        <p:nvSpPr>
          <p:cNvPr id="7" name="Demo text 1"/>
          <p:cNvSpPr txBox="1"/>
          <p:nvPr/>
        </p:nvSpPr>
        <p:spPr>
          <a:xfrm>
            <a:off x="3566160" y="1463040"/>
            <a:ext cx="7863840" cy="777240"/>
          </a:xfrm>
          <a:prstGeom prst="rect">
            <a:avLst/>
          </a:prstGeom>
          <a:noFill/>
          <a:ln/>
        </p:spPr>
        <p:txBody>
          <a:bodyPr wrap="square" lIns="0" tIns="0" rIns="0" bIns="0" rtlCol="0" anchor="ctr"/>
          <a:lstStyle/>
          <a:p>
            <a:pPr indent="0" marL="0">
              <a:buNone/>
            </a:pPr>
            <a:r>
              <a:rPr lang="en-US" sz="1600" dirty="0">
                <a:solidFill>
                  <a:schemeClr val="tx1"/>
                </a:solidFill>
              </a:rPr>
              <a:t>Load the sample SaaS Agreement in one click.</a:t>
            </a:r>
            <a:endParaRPr lang="en-US" sz="1600" dirty="0"/>
          </a:p>
        </p:txBody>
      </p:sp>
      <p:sp>
        <p:nvSpPr>
          <p:cNvPr id="8" name="Demo row 2"/>
          <p:cNvSpPr/>
          <p:nvPr/>
        </p:nvSpPr>
        <p:spPr>
          <a:xfrm>
            <a:off x="548640" y="2377440"/>
            <a:ext cx="11091672" cy="777240"/>
          </a:xfrm>
          <a:prstGeom prst="roundRect">
            <a:avLst>
              <a:gd name="adj" fmla="val 14118"/>
            </a:avLst>
          </a:prstGeom>
          <a:solidFill>
            <a:schemeClr val="bg2"/>
          </a:solidFill>
          <a:ln/>
        </p:spPr>
      </p:sp>
      <p:sp>
        <p:nvSpPr>
          <p:cNvPr id="9" name="Demo number circle 2"/>
          <p:cNvSpPr/>
          <p:nvPr/>
        </p:nvSpPr>
        <p:spPr>
          <a:xfrm>
            <a:off x="777240" y="2468880"/>
            <a:ext cx="594360" cy="594360"/>
          </a:xfrm>
          <a:prstGeom prst="ellipse">
            <a:avLst/>
          </a:prstGeom>
          <a:solidFill>
            <a:schemeClr val="accent1"/>
          </a:solidFill>
          <a:ln/>
        </p:spPr>
      </p:sp>
      <p:sp>
        <p:nvSpPr>
          <p:cNvPr id="10" name="Demo number 2"/>
          <p:cNvSpPr txBox="1"/>
          <p:nvPr/>
        </p:nvSpPr>
        <p:spPr>
          <a:xfrm>
            <a:off x="777240" y="24688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Demo title 2"/>
          <p:cNvSpPr txBox="1"/>
          <p:nvPr/>
        </p:nvSpPr>
        <p:spPr>
          <a:xfrm>
            <a:off x="1645920" y="2377440"/>
            <a:ext cx="1828800" cy="777240"/>
          </a:xfrm>
          <a:prstGeom prst="rect">
            <a:avLst/>
          </a:prstGeom>
          <a:noFill/>
          <a:ln/>
        </p:spPr>
        <p:txBody>
          <a:bodyPr wrap="square" lIns="0" tIns="0" rIns="0" bIns="0" rtlCol="0" anchor="ctr"/>
          <a:lstStyle/>
          <a:p>
            <a:pPr indent="0" marL="0">
              <a:buNone/>
            </a:pPr>
            <a:r>
              <a:rPr lang="en-US" sz="2000" b="1" dirty="0">
                <a:solidFill>
                  <a:schemeClr val="tx2"/>
                </a:solidFill>
              </a:rPr>
              <a:t>Summary</a:t>
            </a:r>
            <a:endParaRPr lang="en-US" sz="2000" dirty="0"/>
          </a:p>
        </p:txBody>
      </p:sp>
      <p:sp>
        <p:nvSpPr>
          <p:cNvPr id="12" name="Demo text 2"/>
          <p:cNvSpPr txBox="1"/>
          <p:nvPr/>
        </p:nvSpPr>
        <p:spPr>
          <a:xfrm>
            <a:off x="3566160" y="2377440"/>
            <a:ext cx="7863840" cy="777240"/>
          </a:xfrm>
          <a:prstGeom prst="rect">
            <a:avLst/>
          </a:prstGeom>
          <a:noFill/>
          <a:ln/>
        </p:spPr>
        <p:txBody>
          <a:bodyPr wrap="square" lIns="0" tIns="0" rIns="0" bIns="0" rtlCol="0" anchor="ctr"/>
          <a:lstStyle/>
          <a:p>
            <a:pPr indent="0" marL="0">
              <a:buNone/>
            </a:pPr>
            <a:r>
              <a:rPr lang="en-US" sz="1600" dirty="0">
                <a:solidFill>
                  <a:schemeClr val="tx1"/>
                </a:solidFill>
              </a:rPr>
              <a:t>“High Potential Risk — 2 high-risk issues require revision.”</a:t>
            </a:r>
            <a:endParaRPr lang="en-US" sz="1600" dirty="0"/>
          </a:p>
        </p:txBody>
      </p:sp>
      <p:sp>
        <p:nvSpPr>
          <p:cNvPr id="13" name="Demo row 3"/>
          <p:cNvSpPr/>
          <p:nvPr/>
        </p:nvSpPr>
        <p:spPr>
          <a:xfrm>
            <a:off x="548640" y="3291840"/>
            <a:ext cx="11091672" cy="777240"/>
          </a:xfrm>
          <a:prstGeom prst="roundRect">
            <a:avLst>
              <a:gd name="adj" fmla="val 14118"/>
            </a:avLst>
          </a:prstGeom>
          <a:solidFill>
            <a:schemeClr val="bg2"/>
          </a:solidFill>
          <a:ln/>
        </p:spPr>
      </p:sp>
      <p:sp>
        <p:nvSpPr>
          <p:cNvPr id="14" name="Demo number circle 3"/>
          <p:cNvSpPr/>
          <p:nvPr/>
        </p:nvSpPr>
        <p:spPr>
          <a:xfrm>
            <a:off x="777240" y="3383280"/>
            <a:ext cx="594360" cy="594360"/>
          </a:xfrm>
          <a:prstGeom prst="ellipse">
            <a:avLst/>
          </a:prstGeom>
          <a:solidFill>
            <a:schemeClr val="accent1"/>
          </a:solidFill>
          <a:ln/>
        </p:spPr>
      </p:sp>
      <p:sp>
        <p:nvSpPr>
          <p:cNvPr id="15" name="Demo number 3"/>
          <p:cNvSpPr txBox="1"/>
          <p:nvPr/>
        </p:nvSpPr>
        <p:spPr>
          <a:xfrm>
            <a:off x="777240" y="33832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Demo title 3"/>
          <p:cNvSpPr txBox="1"/>
          <p:nvPr/>
        </p:nvSpPr>
        <p:spPr>
          <a:xfrm>
            <a:off x="1645920" y="3291840"/>
            <a:ext cx="1828800" cy="777240"/>
          </a:xfrm>
          <a:prstGeom prst="rect">
            <a:avLst/>
          </a:prstGeom>
          <a:noFill/>
          <a:ln/>
        </p:spPr>
        <p:txBody>
          <a:bodyPr wrap="square" lIns="0" tIns="0" rIns="0" bIns="0" rtlCol="0" anchor="ctr"/>
          <a:lstStyle/>
          <a:p>
            <a:pPr indent="0" marL="0">
              <a:buNone/>
            </a:pPr>
            <a:r>
              <a:rPr lang="en-US" sz="2000" b="1" dirty="0">
                <a:solidFill>
                  <a:schemeClr val="tx2"/>
                </a:solidFill>
              </a:rPr>
              <a:t>Drill in</a:t>
            </a:r>
            <a:endParaRPr lang="en-US" sz="2000" dirty="0"/>
          </a:p>
        </p:txBody>
      </p:sp>
      <p:sp>
        <p:nvSpPr>
          <p:cNvPr id="17" name="Demo text 3"/>
          <p:cNvSpPr txBox="1"/>
          <p:nvPr/>
        </p:nvSpPr>
        <p:spPr>
          <a:xfrm>
            <a:off x="3566160" y="3291840"/>
            <a:ext cx="7863840" cy="777240"/>
          </a:xfrm>
          <a:prstGeom prst="rect">
            <a:avLst/>
          </a:prstGeom>
          <a:noFill/>
          <a:ln/>
        </p:spPr>
        <p:txBody>
          <a:bodyPr wrap="square" lIns="0" tIns="0" rIns="0" bIns="0" rtlCol="0" anchor="ctr"/>
          <a:lstStyle/>
          <a:p>
            <a:pPr indent="0" marL="0">
              <a:buNone/>
            </a:pPr>
            <a:r>
              <a:rPr lang="en-US" sz="1600" dirty="0">
                <a:solidFill>
                  <a:schemeClr val="tx1"/>
                </a:solidFill>
              </a:rPr>
              <a:t>Open “You could be forced to pay unlimited costs” → evidence quote → proposed fix → Apply to Contract.</a:t>
            </a:r>
            <a:endParaRPr lang="en-US" sz="1600" dirty="0"/>
          </a:p>
        </p:txBody>
      </p:sp>
      <p:sp>
        <p:nvSpPr>
          <p:cNvPr id="18" name="Demo row 4"/>
          <p:cNvSpPr/>
          <p:nvPr/>
        </p:nvSpPr>
        <p:spPr>
          <a:xfrm>
            <a:off x="548640" y="4206240"/>
            <a:ext cx="11091672" cy="777240"/>
          </a:xfrm>
          <a:prstGeom prst="roundRect">
            <a:avLst>
              <a:gd name="adj" fmla="val 14118"/>
            </a:avLst>
          </a:prstGeom>
          <a:solidFill>
            <a:schemeClr val="bg2"/>
          </a:solidFill>
          <a:ln/>
        </p:spPr>
      </p:sp>
      <p:sp>
        <p:nvSpPr>
          <p:cNvPr id="19" name="Demo number circle 4"/>
          <p:cNvSpPr/>
          <p:nvPr/>
        </p:nvSpPr>
        <p:spPr>
          <a:xfrm>
            <a:off x="777240" y="4297680"/>
            <a:ext cx="594360" cy="594360"/>
          </a:xfrm>
          <a:prstGeom prst="ellipse">
            <a:avLst/>
          </a:prstGeom>
          <a:solidFill>
            <a:schemeClr val="accent1"/>
          </a:solidFill>
          <a:ln/>
        </p:spPr>
      </p:sp>
      <p:sp>
        <p:nvSpPr>
          <p:cNvPr id="20" name="Demo number 4"/>
          <p:cNvSpPr txBox="1"/>
          <p:nvPr/>
        </p:nvSpPr>
        <p:spPr>
          <a:xfrm>
            <a:off x="777240" y="42976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Demo title 4"/>
          <p:cNvSpPr txBox="1"/>
          <p:nvPr/>
        </p:nvSpPr>
        <p:spPr>
          <a:xfrm>
            <a:off x="1645920" y="4206240"/>
            <a:ext cx="1828800" cy="777240"/>
          </a:xfrm>
          <a:prstGeom prst="rect">
            <a:avLst/>
          </a:prstGeom>
          <a:noFill/>
          <a:ln/>
        </p:spPr>
        <p:txBody>
          <a:bodyPr wrap="square" lIns="0" tIns="0" rIns="0" bIns="0" rtlCol="0" anchor="ctr"/>
          <a:lstStyle/>
          <a:p>
            <a:pPr indent="0" marL="0">
              <a:buNone/>
            </a:pPr>
            <a:r>
              <a:rPr lang="en-US" sz="2000" b="1" dirty="0">
                <a:solidFill>
                  <a:schemeClr val="tx2"/>
                </a:solidFill>
              </a:rPr>
              <a:t>Ask</a:t>
            </a:r>
            <a:endParaRPr lang="en-US" sz="2000" dirty="0"/>
          </a:p>
        </p:txBody>
      </p:sp>
      <p:sp>
        <p:nvSpPr>
          <p:cNvPr id="22" name="Demo text 4"/>
          <p:cNvSpPr txBox="1"/>
          <p:nvPr/>
        </p:nvSpPr>
        <p:spPr>
          <a:xfrm>
            <a:off x="3566160" y="4206240"/>
            <a:ext cx="7863840" cy="777240"/>
          </a:xfrm>
          <a:prstGeom prst="rect">
            <a:avLst/>
          </a:prstGeom>
          <a:noFill/>
          <a:ln/>
        </p:spPr>
        <p:txBody>
          <a:bodyPr wrap="square" lIns="0" tIns="0" rIns="0" bIns="0" rtlCol="0" anchor="ctr"/>
          <a:lstStyle/>
          <a:p>
            <a:pPr indent="0" marL="0">
              <a:buNone/>
            </a:pPr>
            <a:r>
              <a:rPr lang="en-US" sz="1600" dirty="0">
                <a:solidFill>
                  <a:schemeClr val="tx1"/>
                </a:solidFill>
              </a:rPr>
              <a:t>“Can the vendor sell my customer data?” → get a cited answer.</a:t>
            </a:r>
            <a:endParaRPr lang="en-US" sz="1600" dirty="0"/>
          </a:p>
        </p:txBody>
      </p:sp>
      <p:sp>
        <p:nvSpPr>
          <p:cNvPr id="23" name="Demo row 5"/>
          <p:cNvSpPr/>
          <p:nvPr/>
        </p:nvSpPr>
        <p:spPr>
          <a:xfrm>
            <a:off x="548640" y="5120640"/>
            <a:ext cx="11091672" cy="777240"/>
          </a:xfrm>
          <a:prstGeom prst="roundRect">
            <a:avLst>
              <a:gd name="adj" fmla="val 14118"/>
            </a:avLst>
          </a:prstGeom>
          <a:solidFill>
            <a:schemeClr val="bg2"/>
          </a:solidFill>
          <a:ln/>
        </p:spPr>
      </p:sp>
      <p:sp>
        <p:nvSpPr>
          <p:cNvPr id="24" name="Demo number circle 5"/>
          <p:cNvSpPr/>
          <p:nvPr/>
        </p:nvSpPr>
        <p:spPr>
          <a:xfrm>
            <a:off x="777240" y="5212080"/>
            <a:ext cx="594360" cy="594360"/>
          </a:xfrm>
          <a:prstGeom prst="ellipse">
            <a:avLst/>
          </a:prstGeom>
          <a:solidFill>
            <a:schemeClr val="accent1"/>
          </a:solidFill>
          <a:ln/>
        </p:spPr>
      </p:sp>
      <p:sp>
        <p:nvSpPr>
          <p:cNvPr id="25" name="Demo number 5"/>
          <p:cNvSpPr txBox="1"/>
          <p:nvPr/>
        </p:nvSpPr>
        <p:spPr>
          <a:xfrm>
            <a:off x="777240" y="52120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6" name="Demo title 5"/>
          <p:cNvSpPr txBox="1"/>
          <p:nvPr/>
        </p:nvSpPr>
        <p:spPr>
          <a:xfrm>
            <a:off x="1645920" y="5120640"/>
            <a:ext cx="1828800" cy="777240"/>
          </a:xfrm>
          <a:prstGeom prst="rect">
            <a:avLst/>
          </a:prstGeom>
          <a:noFill/>
          <a:ln/>
        </p:spPr>
        <p:txBody>
          <a:bodyPr wrap="square" lIns="0" tIns="0" rIns="0" bIns="0" rtlCol="0" anchor="ctr"/>
          <a:lstStyle/>
          <a:p>
            <a:pPr indent="0" marL="0">
              <a:buNone/>
            </a:pPr>
            <a:r>
              <a:rPr lang="en-US" sz="2000" b="1" dirty="0">
                <a:solidFill>
                  <a:schemeClr val="tx2"/>
                </a:solidFill>
              </a:rPr>
              <a:t>Export</a:t>
            </a:r>
            <a:endParaRPr lang="en-US" sz="2000" dirty="0"/>
          </a:p>
        </p:txBody>
      </p:sp>
      <p:sp>
        <p:nvSpPr>
          <p:cNvPr id="27" name="Demo text 5"/>
          <p:cNvSpPr txBox="1"/>
          <p:nvPr/>
        </p:nvSpPr>
        <p:spPr>
          <a:xfrm>
            <a:off x="3566160" y="5120640"/>
            <a:ext cx="7863840" cy="777240"/>
          </a:xfrm>
          <a:prstGeom prst="rect">
            <a:avLst/>
          </a:prstGeom>
          <a:noFill/>
          <a:ln/>
        </p:spPr>
        <p:txBody>
          <a:bodyPr wrap="square" lIns="0" tIns="0" rIns="0" bIns="0" rtlCol="0" anchor="ctr"/>
          <a:lstStyle/>
          <a:p>
            <a:pPr indent="0" marL="0">
              <a:buNone/>
            </a:pPr>
            <a:r>
              <a:rPr lang="en-US" sz="1600" dirty="0">
                <a:solidFill>
                  <a:schemeClr val="tx1"/>
                </a:solidFill>
              </a:rPr>
              <a:t>Download the executive report.</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Measured, not claimed</a:t>
            </a:r>
            <a:endParaRPr lang="en-US" sz="3600" dirty="0"/>
          </a:p>
        </p:txBody>
      </p:sp>
      <p:sp>
        <p:nvSpPr>
          <p:cNvPr id="3" name="Metric card 1"/>
          <p:cNvSpPr/>
          <p:nvPr/>
        </p:nvSpPr>
        <p:spPr>
          <a:xfrm>
            <a:off x="548640" y="1554480"/>
            <a:ext cx="2560320" cy="3566160"/>
          </a:xfrm>
          <a:prstGeom prst="roundRect">
            <a:avLst>
              <a:gd name="adj" fmla="val 4286"/>
            </a:avLst>
          </a:prstGeom>
          <a:solidFill>
            <a:schemeClr val="bg2"/>
          </a:solidFill>
          <a:ln/>
        </p:spPr>
      </p:sp>
      <p:sp>
        <p:nvSpPr>
          <p:cNvPr id="4" name="Metric value 1"/>
          <p:cNvSpPr txBox="1"/>
          <p:nvPr/>
        </p:nvSpPr>
        <p:spPr>
          <a:xfrm>
            <a:off x="822960" y="1828800"/>
            <a:ext cx="2103120" cy="1005840"/>
          </a:xfrm>
          <a:prstGeom prst="rect">
            <a:avLst/>
          </a:prstGeom>
          <a:noFill/>
          <a:ln/>
        </p:spPr>
        <p:txBody>
          <a:bodyPr wrap="square" lIns="0" tIns="0" rIns="0" bIns="0" rtlCol="0" anchor="ctr"/>
          <a:lstStyle/>
          <a:p>
            <a:pPr indent="0" marL="0">
              <a:buNone/>
            </a:pPr>
            <a:r>
              <a:rPr lang="en-US" sz="5400" b="1" dirty="0">
                <a:solidFill>
                  <a:schemeClr val="accent1"/>
                </a:solidFill>
              </a:rPr>
              <a:t>94.2%</a:t>
            </a:r>
            <a:endParaRPr lang="en-US" sz="5400" dirty="0"/>
          </a:p>
        </p:txBody>
      </p:sp>
      <p:sp>
        <p:nvSpPr>
          <p:cNvPr id="5" name="Metric label 1"/>
          <p:cNvSpPr txBox="1"/>
          <p:nvPr/>
        </p:nvSpPr>
        <p:spPr>
          <a:xfrm>
            <a:off x="822960" y="2971800"/>
            <a:ext cx="2103120" cy="411480"/>
          </a:xfrm>
          <a:prstGeom prst="rect">
            <a:avLst/>
          </a:prstGeom>
          <a:noFill/>
          <a:ln/>
        </p:spPr>
        <p:txBody>
          <a:bodyPr wrap="square" lIns="0" tIns="0" rIns="0" bIns="0" rtlCol="0" anchor="t"/>
          <a:lstStyle/>
          <a:p>
            <a:pPr indent="0" marL="0">
              <a:buNone/>
            </a:pPr>
            <a:r>
              <a:rPr lang="en-US" sz="2000" b="1" dirty="0">
                <a:solidFill>
                  <a:schemeClr val="tx2"/>
                </a:solidFill>
              </a:rPr>
              <a:t>Risk recall</a:t>
            </a:r>
            <a:endParaRPr lang="en-US" sz="2000" dirty="0"/>
          </a:p>
        </p:txBody>
      </p:sp>
      <p:sp>
        <p:nvSpPr>
          <p:cNvPr id="6" name="Metric text 1"/>
          <p:cNvSpPr txBox="1"/>
          <p:nvPr/>
        </p:nvSpPr>
        <p:spPr>
          <a:xfrm>
            <a:off x="822960" y="3474720"/>
            <a:ext cx="2103120" cy="1371600"/>
          </a:xfrm>
          <a:prstGeom prst="rect">
            <a:avLst/>
          </a:prstGeom>
          <a:noFill/>
          <a:ln/>
        </p:spPr>
        <p:txBody>
          <a:bodyPr wrap="square" lIns="0" tIns="0" rIns="0" bIns="0" rtlCol="0" anchor="t"/>
          <a:lstStyle/>
          <a:p>
            <a:pPr indent="0" marL="0">
              <a:buNone/>
            </a:pPr>
            <a:r>
              <a:rPr lang="en-US" sz="1400" dirty="0">
                <a:solidFill>
                  <a:schemeClr val="tx1"/>
                </a:solidFill>
              </a:rPr>
              <a:t>Share of known risky clauses we caught.</a:t>
            </a:r>
            <a:endParaRPr lang="en-US" sz="1400" dirty="0"/>
          </a:p>
        </p:txBody>
      </p:sp>
      <p:sp>
        <p:nvSpPr>
          <p:cNvPr id="7" name="Metric card 2"/>
          <p:cNvSpPr/>
          <p:nvPr/>
        </p:nvSpPr>
        <p:spPr>
          <a:xfrm>
            <a:off x="3392424" y="1554480"/>
            <a:ext cx="2560320" cy="3566160"/>
          </a:xfrm>
          <a:prstGeom prst="roundRect">
            <a:avLst>
              <a:gd name="adj" fmla="val 4286"/>
            </a:avLst>
          </a:prstGeom>
          <a:solidFill>
            <a:schemeClr val="bg2"/>
          </a:solidFill>
          <a:ln/>
        </p:spPr>
      </p:sp>
      <p:sp>
        <p:nvSpPr>
          <p:cNvPr id="8" name="Metric value 2"/>
          <p:cNvSpPr txBox="1"/>
          <p:nvPr/>
        </p:nvSpPr>
        <p:spPr>
          <a:xfrm>
            <a:off x="3666744" y="1828800"/>
            <a:ext cx="2103120" cy="1005840"/>
          </a:xfrm>
          <a:prstGeom prst="rect">
            <a:avLst/>
          </a:prstGeom>
          <a:noFill/>
          <a:ln/>
        </p:spPr>
        <p:txBody>
          <a:bodyPr wrap="square" lIns="0" tIns="0" rIns="0" bIns="0" rtlCol="0" anchor="ctr"/>
          <a:lstStyle/>
          <a:p>
            <a:pPr indent="0" marL="0">
              <a:buNone/>
            </a:pPr>
            <a:r>
              <a:rPr lang="en-US" sz="5400" b="1" dirty="0">
                <a:solidFill>
                  <a:schemeClr val="accent1"/>
                </a:solidFill>
              </a:rPr>
              <a:t>98.5%</a:t>
            </a:r>
            <a:endParaRPr lang="en-US" sz="5400" dirty="0"/>
          </a:p>
        </p:txBody>
      </p:sp>
      <p:sp>
        <p:nvSpPr>
          <p:cNvPr id="9" name="Metric label 2"/>
          <p:cNvSpPr txBox="1"/>
          <p:nvPr/>
        </p:nvSpPr>
        <p:spPr>
          <a:xfrm>
            <a:off x="3666744" y="2971800"/>
            <a:ext cx="2103120" cy="411480"/>
          </a:xfrm>
          <a:prstGeom prst="rect">
            <a:avLst/>
          </a:prstGeom>
          <a:noFill/>
          <a:ln/>
        </p:spPr>
        <p:txBody>
          <a:bodyPr wrap="square" lIns="0" tIns="0" rIns="0" bIns="0" rtlCol="0" anchor="t"/>
          <a:lstStyle/>
          <a:p>
            <a:pPr indent="0" marL="0">
              <a:buNone/>
            </a:pPr>
            <a:r>
              <a:rPr lang="en-US" sz="2000" b="1" dirty="0">
                <a:solidFill>
                  <a:schemeClr val="tx2"/>
                </a:solidFill>
              </a:rPr>
              <a:t>Citation accuracy</a:t>
            </a:r>
            <a:endParaRPr lang="en-US" sz="2000" dirty="0"/>
          </a:p>
        </p:txBody>
      </p:sp>
      <p:sp>
        <p:nvSpPr>
          <p:cNvPr id="10" name="Metric text 2"/>
          <p:cNvSpPr txBox="1"/>
          <p:nvPr/>
        </p:nvSpPr>
        <p:spPr>
          <a:xfrm>
            <a:off x="3666744" y="3474720"/>
            <a:ext cx="2103120" cy="1371600"/>
          </a:xfrm>
          <a:prstGeom prst="rect">
            <a:avLst/>
          </a:prstGeom>
          <a:noFill/>
          <a:ln/>
        </p:spPr>
        <p:txBody>
          <a:bodyPr wrap="square" lIns="0" tIns="0" rIns="0" bIns="0" rtlCol="0" anchor="t"/>
          <a:lstStyle/>
          <a:p>
            <a:pPr indent="0" marL="0">
              <a:buNone/>
            </a:pPr>
            <a:r>
              <a:rPr lang="en-US" sz="1400" dirty="0">
                <a:solidFill>
                  <a:schemeClr val="tx1"/>
                </a:solidFill>
              </a:rPr>
              <a:t>Citations that match a real, relevant provision.</a:t>
            </a:r>
            <a:endParaRPr lang="en-US" sz="1400" dirty="0"/>
          </a:p>
        </p:txBody>
      </p:sp>
      <p:sp>
        <p:nvSpPr>
          <p:cNvPr id="11" name="Metric card 3"/>
          <p:cNvSpPr/>
          <p:nvPr/>
        </p:nvSpPr>
        <p:spPr>
          <a:xfrm>
            <a:off x="6236208" y="1554480"/>
            <a:ext cx="2560320" cy="3566160"/>
          </a:xfrm>
          <a:prstGeom prst="roundRect">
            <a:avLst>
              <a:gd name="adj" fmla="val 4286"/>
            </a:avLst>
          </a:prstGeom>
          <a:solidFill>
            <a:schemeClr val="bg2"/>
          </a:solidFill>
          <a:ln/>
        </p:spPr>
      </p:sp>
      <p:sp>
        <p:nvSpPr>
          <p:cNvPr id="12" name="Metric value 3"/>
          <p:cNvSpPr txBox="1"/>
          <p:nvPr/>
        </p:nvSpPr>
        <p:spPr>
          <a:xfrm>
            <a:off x="6510528" y="1828800"/>
            <a:ext cx="2103120" cy="1005840"/>
          </a:xfrm>
          <a:prstGeom prst="rect">
            <a:avLst/>
          </a:prstGeom>
          <a:noFill/>
          <a:ln/>
        </p:spPr>
        <p:txBody>
          <a:bodyPr wrap="square" lIns="0" tIns="0" rIns="0" bIns="0" rtlCol="0" anchor="ctr"/>
          <a:lstStyle/>
          <a:p>
            <a:pPr indent="0" marL="0">
              <a:buNone/>
            </a:pPr>
            <a:r>
              <a:rPr lang="en-US" sz="5400" b="1" dirty="0">
                <a:solidFill>
                  <a:schemeClr val="accent1"/>
                </a:solidFill>
              </a:rPr>
              <a:t>3.1s</a:t>
            </a:r>
            <a:endParaRPr lang="en-US" sz="5400" dirty="0"/>
          </a:p>
        </p:txBody>
      </p:sp>
      <p:sp>
        <p:nvSpPr>
          <p:cNvPr id="13" name="Metric label 3"/>
          <p:cNvSpPr txBox="1"/>
          <p:nvPr/>
        </p:nvSpPr>
        <p:spPr>
          <a:xfrm>
            <a:off x="6510528" y="2971800"/>
            <a:ext cx="2103120" cy="411480"/>
          </a:xfrm>
          <a:prstGeom prst="rect">
            <a:avLst/>
          </a:prstGeom>
          <a:noFill/>
          <a:ln/>
        </p:spPr>
        <p:txBody>
          <a:bodyPr wrap="square" lIns="0" tIns="0" rIns="0" bIns="0" rtlCol="0" anchor="t"/>
          <a:lstStyle/>
          <a:p>
            <a:pPr indent="0" marL="0">
              <a:buNone/>
            </a:pPr>
            <a:r>
              <a:rPr lang="en-US" sz="2000" b="1" dirty="0">
                <a:solidFill>
                  <a:schemeClr val="tx2"/>
                </a:solidFill>
              </a:rPr>
              <a:t>Avg inference</a:t>
            </a:r>
            <a:endParaRPr lang="en-US" sz="2000" dirty="0"/>
          </a:p>
        </p:txBody>
      </p:sp>
      <p:sp>
        <p:nvSpPr>
          <p:cNvPr id="14" name="Metric text 3"/>
          <p:cNvSpPr txBox="1"/>
          <p:nvPr/>
        </p:nvSpPr>
        <p:spPr>
          <a:xfrm>
            <a:off x="6510528" y="3474720"/>
            <a:ext cx="2103120" cy="1371600"/>
          </a:xfrm>
          <a:prstGeom prst="rect">
            <a:avLst/>
          </a:prstGeom>
          <a:noFill/>
          <a:ln/>
        </p:spPr>
        <p:txBody>
          <a:bodyPr wrap="square" lIns="0" tIns="0" rIns="0" bIns="0" rtlCol="0" anchor="t"/>
          <a:lstStyle/>
          <a:p>
            <a:pPr indent="0" marL="0">
              <a:buNone/>
            </a:pPr>
            <a:r>
              <a:rPr lang="en-US" sz="1400" dirty="0">
                <a:solidFill>
                  <a:schemeClr val="tx1"/>
                </a:solidFill>
              </a:rPr>
              <a:t>Typical time to analyze a contract.</a:t>
            </a:r>
            <a:endParaRPr lang="en-US" sz="1400" dirty="0"/>
          </a:p>
        </p:txBody>
      </p:sp>
      <p:sp>
        <p:nvSpPr>
          <p:cNvPr id="15" name="Metric card 4"/>
          <p:cNvSpPr/>
          <p:nvPr/>
        </p:nvSpPr>
        <p:spPr>
          <a:xfrm>
            <a:off x="9079992" y="1554480"/>
            <a:ext cx="2560320" cy="3566160"/>
          </a:xfrm>
          <a:prstGeom prst="roundRect">
            <a:avLst>
              <a:gd name="adj" fmla="val 4286"/>
            </a:avLst>
          </a:prstGeom>
          <a:solidFill>
            <a:schemeClr val="bg2"/>
          </a:solidFill>
          <a:ln/>
        </p:spPr>
      </p:sp>
      <p:sp>
        <p:nvSpPr>
          <p:cNvPr id="16" name="Metric value 4"/>
          <p:cNvSpPr txBox="1"/>
          <p:nvPr/>
        </p:nvSpPr>
        <p:spPr>
          <a:xfrm>
            <a:off x="9354312" y="1828800"/>
            <a:ext cx="2103120" cy="1005840"/>
          </a:xfrm>
          <a:prstGeom prst="rect">
            <a:avLst/>
          </a:prstGeom>
          <a:noFill/>
          <a:ln/>
        </p:spPr>
        <p:txBody>
          <a:bodyPr wrap="square" lIns="0" tIns="0" rIns="0" bIns="0" rtlCol="0" anchor="ctr"/>
          <a:lstStyle/>
          <a:p>
            <a:pPr indent="0" marL="0">
              <a:buNone/>
            </a:pPr>
            <a:r>
              <a:rPr lang="en-US" sz="5400" b="1" dirty="0">
                <a:solidFill>
                  <a:schemeClr val="accent1"/>
                </a:solidFill>
              </a:rPr>
              <a:t>0.91</a:t>
            </a:r>
            <a:endParaRPr lang="en-US" sz="5400" dirty="0"/>
          </a:p>
        </p:txBody>
      </p:sp>
      <p:sp>
        <p:nvSpPr>
          <p:cNvPr id="17" name="Metric label 4"/>
          <p:cNvSpPr txBox="1"/>
          <p:nvPr/>
        </p:nvSpPr>
        <p:spPr>
          <a:xfrm>
            <a:off x="9354312" y="2971800"/>
            <a:ext cx="2103120" cy="411480"/>
          </a:xfrm>
          <a:prstGeom prst="rect">
            <a:avLst/>
          </a:prstGeom>
          <a:noFill/>
          <a:ln/>
        </p:spPr>
        <p:txBody>
          <a:bodyPr wrap="square" lIns="0" tIns="0" rIns="0" bIns="0" rtlCol="0" anchor="t"/>
          <a:lstStyle/>
          <a:p>
            <a:pPr indent="0" marL="0">
              <a:buNone/>
            </a:pPr>
            <a:r>
              <a:rPr lang="en-US" sz="2000" b="1" dirty="0">
                <a:solidFill>
                  <a:schemeClr val="tx2"/>
                </a:solidFill>
              </a:rPr>
              <a:t>Clause IoU</a:t>
            </a:r>
            <a:endParaRPr lang="en-US" sz="2000" dirty="0"/>
          </a:p>
        </p:txBody>
      </p:sp>
      <p:sp>
        <p:nvSpPr>
          <p:cNvPr id="18" name="Metric text 4"/>
          <p:cNvSpPr txBox="1"/>
          <p:nvPr/>
        </p:nvSpPr>
        <p:spPr>
          <a:xfrm>
            <a:off x="9354312" y="3474720"/>
            <a:ext cx="2103120" cy="1371600"/>
          </a:xfrm>
          <a:prstGeom prst="rect">
            <a:avLst/>
          </a:prstGeom>
          <a:noFill/>
          <a:ln/>
        </p:spPr>
        <p:txBody>
          <a:bodyPr wrap="square" lIns="0" tIns="0" rIns="0" bIns="0" rtlCol="0" anchor="t"/>
          <a:lstStyle/>
          <a:p>
            <a:pPr indent="0" marL="0">
              <a:buNone/>
            </a:pPr>
            <a:r>
              <a:rPr lang="en-US" sz="1400" dirty="0">
                <a:solidFill>
                  <a:schemeClr val="tx1"/>
                </a:solidFill>
              </a:rPr>
              <a:t>Overlap between the quoted and the true clause span.</a:t>
            </a:r>
            <a:endParaRPr lang="en-US" sz="1400" dirty="0"/>
          </a:p>
        </p:txBody>
      </p:sp>
      <p:sp>
        <p:nvSpPr>
          <p:cNvPr id="19" name="Caption"/>
          <p:cNvSpPr txBox="1"/>
          <p:nvPr/>
        </p:nvSpPr>
        <p:spPr>
          <a:xfrm>
            <a:off x="548640" y="5349240"/>
            <a:ext cx="11064240" cy="320040"/>
          </a:xfrm>
          <a:prstGeom prst="rect">
            <a:avLst/>
          </a:prstGeom>
          <a:noFill/>
          <a:ln/>
        </p:spPr>
        <p:txBody>
          <a:bodyPr wrap="square" lIns="0" tIns="0" rIns="0" bIns="0" rtlCol="0" anchor="t"/>
          <a:lstStyle/>
          <a:p>
            <a:pPr indent="0" marL="0">
              <a:buNone/>
            </a:pPr>
            <a:r>
              <a:rPr lang="en-US" sz="1400" dirty="0">
                <a:solidFill>
                  <a:schemeClr val="accent5"/>
                </a:solidFill>
              </a:rPr>
              <a:t>Internal benchmark: benchmark_eval.py on our labelled contract set. Also available at /api/benchmark.</a:t>
            </a:r>
            <a:endParaRPr lang="en-US" sz="1400" dirty="0"/>
          </a:p>
        </p:txBody>
      </p:sp>
      <p:sp>
        <p:nvSpPr>
          <p:cNvPr id="20" name="Takeaway"/>
          <p:cNvSpPr txBox="1"/>
          <p:nvPr/>
        </p:nvSpPr>
        <p:spPr>
          <a:xfrm>
            <a:off x="548640" y="5760720"/>
            <a:ext cx="11064240" cy="457200"/>
          </a:xfrm>
          <a:prstGeom prst="rect">
            <a:avLst/>
          </a:prstGeom>
          <a:noFill/>
          <a:ln/>
        </p:spPr>
        <p:txBody>
          <a:bodyPr wrap="square" lIns="0" tIns="0" rIns="0" bIns="0" rtlCol="0" anchor="t"/>
          <a:lstStyle/>
          <a:p>
            <a:pPr indent="0" marL="0">
              <a:buNone/>
            </a:pPr>
            <a:r>
              <a:rPr lang="en-US" sz="2000" b="1" dirty="0">
                <a:solidFill>
                  <a:schemeClr val="tx2"/>
                </a:solidFill>
              </a:rPr>
              <a:t>It finds the risky clause — and cites real law for it.</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Built to scale</a:t>
            </a:r>
            <a:endParaRPr lang="en-US" sz="3600" dirty="0"/>
          </a:p>
        </p:txBody>
      </p:sp>
      <p:sp>
        <p:nvSpPr>
          <p:cNvPr id="3" name="Timeline line"/>
          <p:cNvSpPr/>
          <p:nvPr/>
        </p:nvSpPr>
        <p:spPr>
          <a:xfrm>
            <a:off x="1828800" y="2194560"/>
            <a:ext cx="8503920" cy="0"/>
          </a:xfrm>
          <a:prstGeom prst="line">
            <a:avLst/>
          </a:prstGeom>
          <a:noFill/>
          <a:ln w="25400">
            <a:solidFill>
              <a:schemeClr val="accent5"/>
            </a:solidFill>
            <a:prstDash val="solid"/>
          </a:ln>
        </p:spPr>
      </p:sp>
      <p:sp>
        <p:nvSpPr>
          <p:cNvPr id="4" name="Phase circle 1"/>
          <p:cNvSpPr/>
          <p:nvPr/>
        </p:nvSpPr>
        <p:spPr>
          <a:xfrm>
            <a:off x="1554480" y="1920240"/>
            <a:ext cx="548640" cy="548640"/>
          </a:xfrm>
          <a:prstGeom prst="ellipse">
            <a:avLst/>
          </a:prstGeom>
          <a:solidFill>
            <a:schemeClr val="accent1"/>
          </a:solidFill>
          <a:ln/>
        </p:spPr>
      </p:sp>
      <p:sp>
        <p:nvSpPr>
          <p:cNvPr id="5" name="Phase number 1"/>
          <p:cNvSpPr txBox="1"/>
          <p:nvPr/>
        </p:nvSpPr>
        <p:spPr>
          <a:xfrm>
            <a:off x="1554480" y="19202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Phase card 1"/>
          <p:cNvSpPr/>
          <p:nvPr/>
        </p:nvSpPr>
        <p:spPr>
          <a:xfrm>
            <a:off x="594360" y="2834640"/>
            <a:ext cx="2468880" cy="2651760"/>
          </a:xfrm>
          <a:prstGeom prst="roundRect">
            <a:avLst>
              <a:gd name="adj" fmla="val 4444"/>
            </a:avLst>
          </a:prstGeom>
          <a:solidFill>
            <a:schemeClr val="bg2"/>
          </a:solidFill>
          <a:ln/>
        </p:spPr>
      </p:sp>
      <p:sp>
        <p:nvSpPr>
          <p:cNvPr id="7" name="Phase label 1"/>
          <p:cNvSpPr txBox="1"/>
          <p:nvPr/>
        </p:nvSpPr>
        <p:spPr>
          <a:xfrm>
            <a:off x="868680" y="3063240"/>
            <a:ext cx="1920240" cy="274320"/>
          </a:xfrm>
          <a:prstGeom prst="rect">
            <a:avLst/>
          </a:prstGeom>
          <a:noFill/>
          <a:ln/>
        </p:spPr>
        <p:txBody>
          <a:bodyPr wrap="square" lIns="0" tIns="0" rIns="0" bIns="0" rtlCol="0" anchor="t"/>
          <a:lstStyle/>
          <a:p>
            <a:pPr indent="0" marL="0">
              <a:buNone/>
            </a:pPr>
            <a:r>
              <a:rPr lang="en-US" sz="1200" b="1" dirty="0">
                <a:solidFill>
                  <a:schemeClr val="accent1"/>
                </a:solidFill>
              </a:rPr>
              <a:t>PHASE 1</a:t>
            </a:r>
            <a:endParaRPr lang="en-US" sz="1200" dirty="0"/>
          </a:p>
        </p:txBody>
      </p:sp>
      <p:sp>
        <p:nvSpPr>
          <p:cNvPr id="8" name="Phase title 1"/>
          <p:cNvSpPr txBox="1"/>
          <p:nvPr/>
        </p:nvSpPr>
        <p:spPr>
          <a:xfrm>
            <a:off x="868680" y="3429000"/>
            <a:ext cx="1920240" cy="411480"/>
          </a:xfrm>
          <a:prstGeom prst="rect">
            <a:avLst/>
          </a:prstGeom>
          <a:noFill/>
          <a:ln/>
        </p:spPr>
        <p:txBody>
          <a:bodyPr wrap="square" lIns="0" tIns="0" rIns="0" bIns="0" rtlCol="0" anchor="t"/>
          <a:lstStyle/>
          <a:p>
            <a:pPr indent="0" marL="0">
              <a:buNone/>
            </a:pPr>
            <a:r>
              <a:rPr lang="en-US" sz="2000" b="1" dirty="0">
                <a:solidFill>
                  <a:schemeClr val="tx2"/>
                </a:solidFill>
              </a:rPr>
              <a:t>Richer inputs</a:t>
            </a:r>
            <a:endParaRPr lang="en-US" sz="2000" dirty="0"/>
          </a:p>
        </p:txBody>
      </p:sp>
      <p:sp>
        <p:nvSpPr>
          <p:cNvPr id="9" name="Phase text 1"/>
          <p:cNvSpPr txBox="1"/>
          <p:nvPr/>
        </p:nvSpPr>
        <p:spPr>
          <a:xfrm>
            <a:off x="868680" y="3931920"/>
            <a:ext cx="1920240" cy="1371600"/>
          </a:xfrm>
          <a:prstGeom prst="rect">
            <a:avLst/>
          </a:prstGeom>
          <a:noFill/>
          <a:ln/>
        </p:spPr>
        <p:txBody>
          <a:bodyPr wrap="square" lIns="0" tIns="0" rIns="0" bIns="0" rtlCol="0" anchor="t"/>
          <a:lstStyle/>
          <a:p>
            <a:pPr indent="0" marL="0">
              <a:buNone/>
            </a:pPr>
            <a:r>
              <a:rPr lang="en-US" sz="1500" dirty="0">
                <a:solidFill>
                  <a:schemeClr val="tx1"/>
                </a:solidFill>
              </a:rPr>
              <a:t>DOCX support and OCR for scanned PDFs.</a:t>
            </a:r>
            <a:endParaRPr lang="en-US" sz="1500" dirty="0"/>
          </a:p>
        </p:txBody>
      </p:sp>
      <p:sp>
        <p:nvSpPr>
          <p:cNvPr id="10" name="Phase circle 2"/>
          <p:cNvSpPr/>
          <p:nvPr/>
        </p:nvSpPr>
        <p:spPr>
          <a:xfrm>
            <a:off x="4389120" y="1920240"/>
            <a:ext cx="548640" cy="548640"/>
          </a:xfrm>
          <a:prstGeom prst="ellipse">
            <a:avLst/>
          </a:prstGeom>
          <a:solidFill>
            <a:schemeClr val="accent1"/>
          </a:solidFill>
          <a:ln/>
        </p:spPr>
      </p:sp>
      <p:sp>
        <p:nvSpPr>
          <p:cNvPr id="11" name="Phase number 2"/>
          <p:cNvSpPr txBox="1"/>
          <p:nvPr/>
        </p:nvSpPr>
        <p:spPr>
          <a:xfrm>
            <a:off x="4389120" y="19202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Phase card 2"/>
          <p:cNvSpPr/>
          <p:nvPr/>
        </p:nvSpPr>
        <p:spPr>
          <a:xfrm>
            <a:off x="3429000" y="2834640"/>
            <a:ext cx="2468880" cy="2651760"/>
          </a:xfrm>
          <a:prstGeom prst="roundRect">
            <a:avLst>
              <a:gd name="adj" fmla="val 4444"/>
            </a:avLst>
          </a:prstGeom>
          <a:solidFill>
            <a:schemeClr val="bg2"/>
          </a:solidFill>
          <a:ln/>
        </p:spPr>
      </p:sp>
      <p:sp>
        <p:nvSpPr>
          <p:cNvPr id="13" name="Phase label 2"/>
          <p:cNvSpPr txBox="1"/>
          <p:nvPr/>
        </p:nvSpPr>
        <p:spPr>
          <a:xfrm>
            <a:off x="3703320" y="3063240"/>
            <a:ext cx="1920240" cy="274320"/>
          </a:xfrm>
          <a:prstGeom prst="rect">
            <a:avLst/>
          </a:prstGeom>
          <a:noFill/>
          <a:ln/>
        </p:spPr>
        <p:txBody>
          <a:bodyPr wrap="square" lIns="0" tIns="0" rIns="0" bIns="0" rtlCol="0" anchor="t"/>
          <a:lstStyle/>
          <a:p>
            <a:pPr indent="0" marL="0">
              <a:buNone/>
            </a:pPr>
            <a:r>
              <a:rPr lang="en-US" sz="1200" b="1" dirty="0">
                <a:solidFill>
                  <a:schemeClr val="accent1"/>
                </a:solidFill>
              </a:rPr>
              <a:t>PHASE 2</a:t>
            </a:r>
            <a:endParaRPr lang="en-US" sz="1200" dirty="0"/>
          </a:p>
        </p:txBody>
      </p:sp>
      <p:sp>
        <p:nvSpPr>
          <p:cNvPr id="14" name="Phase title 2"/>
          <p:cNvSpPr txBox="1"/>
          <p:nvPr/>
        </p:nvSpPr>
        <p:spPr>
          <a:xfrm>
            <a:off x="3703320" y="3429000"/>
            <a:ext cx="1920240" cy="411480"/>
          </a:xfrm>
          <a:prstGeom prst="rect">
            <a:avLst/>
          </a:prstGeom>
          <a:noFill/>
          <a:ln/>
        </p:spPr>
        <p:txBody>
          <a:bodyPr wrap="square" lIns="0" tIns="0" rIns="0" bIns="0" rtlCol="0" anchor="t"/>
          <a:lstStyle/>
          <a:p>
            <a:pPr indent="0" marL="0">
              <a:buNone/>
            </a:pPr>
            <a:r>
              <a:rPr lang="en-US" sz="2000" b="1" dirty="0">
                <a:solidFill>
                  <a:schemeClr val="tx2"/>
                </a:solidFill>
              </a:rPr>
              <a:t>Accounts</a:t>
            </a:r>
            <a:endParaRPr lang="en-US" sz="2000" dirty="0"/>
          </a:p>
        </p:txBody>
      </p:sp>
      <p:sp>
        <p:nvSpPr>
          <p:cNvPr id="15" name="Phase text 2"/>
          <p:cNvSpPr txBox="1"/>
          <p:nvPr/>
        </p:nvSpPr>
        <p:spPr>
          <a:xfrm>
            <a:off x="3703320" y="3931920"/>
            <a:ext cx="1920240" cy="1371600"/>
          </a:xfrm>
          <a:prstGeom prst="rect">
            <a:avLst/>
          </a:prstGeom>
          <a:noFill/>
          <a:ln/>
        </p:spPr>
        <p:txBody>
          <a:bodyPr wrap="square" lIns="0" tIns="0" rIns="0" bIns="0" rtlCol="0" anchor="t"/>
          <a:lstStyle/>
          <a:p>
            <a:pPr indent="0" marL="0">
              <a:buNone/>
            </a:pPr>
            <a:r>
              <a:rPr lang="en-US" sz="1500" dirty="0">
                <a:solidFill>
                  <a:schemeClr val="tx1"/>
                </a:solidFill>
              </a:rPr>
              <a:t>User accounts, saved reviews and version history.</a:t>
            </a:r>
            <a:endParaRPr lang="en-US" sz="1500" dirty="0"/>
          </a:p>
        </p:txBody>
      </p:sp>
      <p:sp>
        <p:nvSpPr>
          <p:cNvPr id="16" name="Phase circle 3"/>
          <p:cNvSpPr/>
          <p:nvPr/>
        </p:nvSpPr>
        <p:spPr>
          <a:xfrm>
            <a:off x="7223760" y="1920240"/>
            <a:ext cx="548640" cy="548640"/>
          </a:xfrm>
          <a:prstGeom prst="ellipse">
            <a:avLst/>
          </a:prstGeom>
          <a:solidFill>
            <a:schemeClr val="accent1"/>
          </a:solidFill>
          <a:ln/>
        </p:spPr>
      </p:sp>
      <p:sp>
        <p:nvSpPr>
          <p:cNvPr id="17" name="Phase number 3"/>
          <p:cNvSpPr txBox="1"/>
          <p:nvPr/>
        </p:nvSpPr>
        <p:spPr>
          <a:xfrm>
            <a:off x="7223760" y="19202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Phase card 3"/>
          <p:cNvSpPr/>
          <p:nvPr/>
        </p:nvSpPr>
        <p:spPr>
          <a:xfrm>
            <a:off x="6263640" y="2834640"/>
            <a:ext cx="2468880" cy="2651760"/>
          </a:xfrm>
          <a:prstGeom prst="roundRect">
            <a:avLst>
              <a:gd name="adj" fmla="val 4444"/>
            </a:avLst>
          </a:prstGeom>
          <a:solidFill>
            <a:schemeClr val="bg2"/>
          </a:solidFill>
          <a:ln/>
        </p:spPr>
      </p:sp>
      <p:sp>
        <p:nvSpPr>
          <p:cNvPr id="19" name="Phase label 3"/>
          <p:cNvSpPr txBox="1"/>
          <p:nvPr/>
        </p:nvSpPr>
        <p:spPr>
          <a:xfrm>
            <a:off x="6537960" y="3063240"/>
            <a:ext cx="1920240" cy="274320"/>
          </a:xfrm>
          <a:prstGeom prst="rect">
            <a:avLst/>
          </a:prstGeom>
          <a:noFill/>
          <a:ln/>
        </p:spPr>
        <p:txBody>
          <a:bodyPr wrap="square" lIns="0" tIns="0" rIns="0" bIns="0" rtlCol="0" anchor="t"/>
          <a:lstStyle/>
          <a:p>
            <a:pPr indent="0" marL="0">
              <a:buNone/>
            </a:pPr>
            <a:r>
              <a:rPr lang="en-US" sz="1200" b="1" dirty="0">
                <a:solidFill>
                  <a:schemeClr val="accent1"/>
                </a:solidFill>
              </a:rPr>
              <a:t>PHASE 3</a:t>
            </a:r>
            <a:endParaRPr lang="en-US" sz="1200" dirty="0"/>
          </a:p>
        </p:txBody>
      </p:sp>
      <p:sp>
        <p:nvSpPr>
          <p:cNvPr id="20" name="Phase title 3"/>
          <p:cNvSpPr txBox="1"/>
          <p:nvPr/>
        </p:nvSpPr>
        <p:spPr>
          <a:xfrm>
            <a:off x="6537960" y="3429000"/>
            <a:ext cx="1920240" cy="411480"/>
          </a:xfrm>
          <a:prstGeom prst="rect">
            <a:avLst/>
          </a:prstGeom>
          <a:noFill/>
          <a:ln/>
        </p:spPr>
        <p:txBody>
          <a:bodyPr wrap="square" lIns="0" tIns="0" rIns="0" bIns="0" rtlCol="0" anchor="t"/>
          <a:lstStyle/>
          <a:p>
            <a:pPr indent="0" marL="0">
              <a:buNone/>
            </a:pPr>
            <a:r>
              <a:rPr lang="en-US" sz="2000" b="1" dirty="0">
                <a:solidFill>
                  <a:schemeClr val="tx2"/>
                </a:solidFill>
              </a:rPr>
              <a:t>More jurisdictions</a:t>
            </a:r>
            <a:endParaRPr lang="en-US" sz="2000" dirty="0"/>
          </a:p>
        </p:txBody>
      </p:sp>
      <p:sp>
        <p:nvSpPr>
          <p:cNvPr id="21" name="Phase text 3"/>
          <p:cNvSpPr txBox="1"/>
          <p:nvPr/>
        </p:nvSpPr>
        <p:spPr>
          <a:xfrm>
            <a:off x="6537960" y="3931920"/>
            <a:ext cx="1920240" cy="1371600"/>
          </a:xfrm>
          <a:prstGeom prst="rect">
            <a:avLst/>
          </a:prstGeom>
          <a:noFill/>
          <a:ln/>
        </p:spPr>
        <p:txBody>
          <a:bodyPr wrap="square" lIns="0" tIns="0" rIns="0" bIns="0" rtlCol="0" anchor="t"/>
          <a:lstStyle/>
          <a:p>
            <a:pPr indent="0" marL="0">
              <a:buNone/>
            </a:pPr>
            <a:r>
              <a:rPr lang="en-US" sz="1500" dirty="0">
                <a:solidFill>
                  <a:schemeClr val="tx1"/>
                </a:solidFill>
              </a:rPr>
              <a:t>US (Delaware), UK and Singapore.</a:t>
            </a:r>
            <a:endParaRPr lang="en-US" sz="1500" dirty="0"/>
          </a:p>
        </p:txBody>
      </p:sp>
      <p:sp>
        <p:nvSpPr>
          <p:cNvPr id="22" name="Phase circle 4"/>
          <p:cNvSpPr/>
          <p:nvPr/>
        </p:nvSpPr>
        <p:spPr>
          <a:xfrm>
            <a:off x="10058400" y="1920240"/>
            <a:ext cx="548640" cy="548640"/>
          </a:xfrm>
          <a:prstGeom prst="ellipse">
            <a:avLst/>
          </a:prstGeom>
          <a:solidFill>
            <a:schemeClr val="accent1"/>
          </a:solidFill>
          <a:ln/>
        </p:spPr>
      </p:sp>
      <p:sp>
        <p:nvSpPr>
          <p:cNvPr id="23" name="Phase number 4"/>
          <p:cNvSpPr txBox="1"/>
          <p:nvPr/>
        </p:nvSpPr>
        <p:spPr>
          <a:xfrm>
            <a:off x="10058400" y="19202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4" name="Phase card 4"/>
          <p:cNvSpPr/>
          <p:nvPr/>
        </p:nvSpPr>
        <p:spPr>
          <a:xfrm>
            <a:off x="9098280" y="2834640"/>
            <a:ext cx="2468880" cy="2651760"/>
          </a:xfrm>
          <a:prstGeom prst="roundRect">
            <a:avLst>
              <a:gd name="adj" fmla="val 4444"/>
            </a:avLst>
          </a:prstGeom>
          <a:solidFill>
            <a:schemeClr val="bg2"/>
          </a:solidFill>
          <a:ln/>
        </p:spPr>
      </p:sp>
      <p:sp>
        <p:nvSpPr>
          <p:cNvPr id="25" name="Phase label 4"/>
          <p:cNvSpPr txBox="1"/>
          <p:nvPr/>
        </p:nvSpPr>
        <p:spPr>
          <a:xfrm>
            <a:off x="9372600" y="3063240"/>
            <a:ext cx="1920240" cy="274320"/>
          </a:xfrm>
          <a:prstGeom prst="rect">
            <a:avLst/>
          </a:prstGeom>
          <a:noFill/>
          <a:ln/>
        </p:spPr>
        <p:txBody>
          <a:bodyPr wrap="square" lIns="0" tIns="0" rIns="0" bIns="0" rtlCol="0" anchor="t"/>
          <a:lstStyle/>
          <a:p>
            <a:pPr indent="0" marL="0">
              <a:buNone/>
            </a:pPr>
            <a:r>
              <a:rPr lang="en-US" sz="1200" b="1" dirty="0">
                <a:solidFill>
                  <a:schemeClr val="accent1"/>
                </a:solidFill>
              </a:rPr>
              <a:t>PHASE 4</a:t>
            </a:r>
            <a:endParaRPr lang="en-US" sz="1200" dirty="0"/>
          </a:p>
        </p:txBody>
      </p:sp>
      <p:sp>
        <p:nvSpPr>
          <p:cNvPr id="26" name="Phase title 4"/>
          <p:cNvSpPr txBox="1"/>
          <p:nvPr/>
        </p:nvSpPr>
        <p:spPr>
          <a:xfrm>
            <a:off x="9372600" y="3429000"/>
            <a:ext cx="1920240" cy="411480"/>
          </a:xfrm>
          <a:prstGeom prst="rect">
            <a:avLst/>
          </a:prstGeom>
          <a:noFill/>
          <a:ln/>
        </p:spPr>
        <p:txBody>
          <a:bodyPr wrap="square" lIns="0" tIns="0" rIns="0" bIns="0" rtlCol="0" anchor="t"/>
          <a:lstStyle/>
          <a:p>
            <a:pPr indent="0" marL="0">
              <a:buNone/>
            </a:pPr>
            <a:r>
              <a:rPr lang="en-US" sz="2000" b="1" dirty="0">
                <a:solidFill>
                  <a:schemeClr val="tx2"/>
                </a:solidFill>
              </a:rPr>
              <a:t>Enterprise</a:t>
            </a:r>
            <a:endParaRPr lang="en-US" sz="2000" dirty="0"/>
          </a:p>
        </p:txBody>
      </p:sp>
      <p:sp>
        <p:nvSpPr>
          <p:cNvPr id="27" name="Phase text 4"/>
          <p:cNvSpPr txBox="1"/>
          <p:nvPr/>
        </p:nvSpPr>
        <p:spPr>
          <a:xfrm>
            <a:off x="9372600" y="3931920"/>
            <a:ext cx="1920240" cy="1371600"/>
          </a:xfrm>
          <a:prstGeom prst="rect">
            <a:avLst/>
          </a:prstGeom>
          <a:noFill/>
          <a:ln/>
        </p:spPr>
        <p:txBody>
          <a:bodyPr wrap="square" lIns="0" tIns="0" rIns="0" bIns="0" rtlCol="0" anchor="t"/>
          <a:lstStyle/>
          <a:p>
            <a:pPr indent="0" marL="0">
              <a:buNone/>
            </a:pPr>
            <a:r>
              <a:rPr lang="en-US" sz="1500" dirty="0">
                <a:solidFill>
                  <a:schemeClr val="tx1"/>
                </a:solidFill>
              </a:rPr>
              <a:t>Enterprise API and team collaboration.</a:t>
            </a:r>
            <a:endParaRPr lang="en-US" sz="1500" dirty="0"/>
          </a:p>
        </p:txBody>
      </p:sp>
      <p:sp>
        <p:nvSpPr>
          <p:cNvPr id="28" name="Takeaway"/>
          <p:cNvSpPr txBox="1"/>
          <p:nvPr/>
        </p:nvSpPr>
        <p:spPr>
          <a:xfrm>
            <a:off x="548640" y="5760720"/>
            <a:ext cx="11064240" cy="457200"/>
          </a:xfrm>
          <a:prstGeom prst="rect">
            <a:avLst/>
          </a:prstGeom>
          <a:noFill/>
          <a:ln/>
        </p:spPr>
        <p:txBody>
          <a:bodyPr wrap="square" lIns="0" tIns="0" rIns="0" bIns="0" rtlCol="0" anchor="t"/>
          <a:lstStyle/>
          <a:p>
            <a:pPr indent="0" marL="0">
              <a:buNone/>
            </a:pPr>
            <a:r>
              <a:rPr lang="en-US" sz="2000" b="1" dirty="0">
                <a:solidFill>
                  <a:schemeClr val="tx2"/>
                </a:solidFill>
              </a:rPr>
              <a:t>Adding a jurisdiction = one data module + benchmark cases.</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822960" y="914400"/>
            <a:ext cx="6949440" cy="2194560"/>
          </a:xfrm>
          <a:prstGeom prst="rect">
            <a:avLst/>
          </a:prstGeom>
          <a:noFill/>
          <a:ln/>
        </p:spPr>
        <p:txBody>
          <a:bodyPr wrap="square" lIns="0" tIns="0" rIns="0" bIns="0" rtlCol="0" anchor="t"/>
          <a:lstStyle/>
          <a:p>
            <a:pPr algn="l" indent="0" marL="0">
              <a:buNone/>
            </a:pPr>
            <a:r>
              <a:rPr lang="en-US" sz="4000" b="1" dirty="0">
                <a:solidFill>
                  <a:schemeClr val="bg1"/>
                </a:solidFill>
              </a:rPr>
              <a:t>Know what you're signing — before you sign it.</a:t>
            </a:r>
            <a:endParaRPr lang="en-US" sz="4000" dirty="0"/>
          </a:p>
        </p:txBody>
      </p:sp>
      <p:sp>
        <p:nvSpPr>
          <p:cNvPr id="3" name="Recap"/>
          <p:cNvSpPr txBox="1"/>
          <p:nvPr/>
        </p:nvSpPr>
        <p:spPr>
          <a:xfrm>
            <a:off x="822960" y="3246120"/>
            <a:ext cx="6949440" cy="457200"/>
          </a:xfrm>
          <a:prstGeom prst="rect">
            <a:avLst/>
          </a:prstGeom>
          <a:noFill/>
          <a:ln/>
        </p:spPr>
        <p:txBody>
          <a:bodyPr wrap="square" lIns="0" tIns="0" rIns="0" bIns="0" rtlCol="0" anchor="t"/>
          <a:lstStyle/>
          <a:p>
            <a:pPr indent="0" marL="0">
              <a:buNone/>
            </a:pPr>
            <a:r>
              <a:rPr lang="en-US" sz="1800" dirty="0">
                <a:solidFill>
                  <a:schemeClr val="accent6"/>
                </a:solidFill>
              </a:rPr>
              <a:t>LexiShield AI — Plain-English Legal Contract Co-Pilot</a:t>
            </a:r>
            <a:endParaRPr lang="en-US" sz="1800" dirty="0"/>
          </a:p>
        </p:txBody>
      </p:sp>
      <p:pic>
        <p:nvPicPr>
          <p:cNvPr id="4" name="Link icon 1" descr="Link icon 1">    </p:cNvPr>
          <p:cNvPicPr>
            <a:picLocks noChangeAspect="1"/>
          </p:cNvPicPr>
          <p:nvPr/>
        </p:nvPicPr>
        <p:blipFill>
          <a:blip r:embed="rId1"/>
          <a:stretch>
            <a:fillRect/>
          </a:stretch>
        </p:blipFill>
        <p:spPr>
          <a:xfrm>
            <a:off x="822960" y="4069080"/>
            <a:ext cx="320040" cy="320040"/>
          </a:xfrm>
          <a:prstGeom prst="rect">
            <a:avLst/>
          </a:prstGeom>
        </p:spPr>
      </p:pic>
      <p:sp>
        <p:nvSpPr>
          <p:cNvPr id="5" name="Link text 1"/>
          <p:cNvSpPr txBox="1"/>
          <p:nvPr/>
        </p:nvSpPr>
        <p:spPr>
          <a:xfrm>
            <a:off x="1371600" y="4023360"/>
            <a:ext cx="6400800" cy="411480"/>
          </a:xfrm>
          <a:prstGeom prst="rect">
            <a:avLst/>
          </a:prstGeom>
          <a:noFill/>
          <a:ln/>
        </p:spPr>
        <p:txBody>
          <a:bodyPr wrap="square" lIns="0" tIns="0" rIns="0" bIns="0" rtlCol="0" anchor="ctr"/>
          <a:lstStyle/>
          <a:p>
            <a:pPr indent="0" marL="0">
              <a:buNone/>
            </a:pPr>
            <a:r>
              <a:rPr lang="en-US" sz="1800" dirty="0">
                <a:solidFill>
                  <a:schemeClr val="bg1"/>
                </a:solidFill>
              </a:rPr>
              <a:t>GitHub: [GITHUB URL]</a:t>
            </a:r>
            <a:endParaRPr lang="en-US" sz="1800" dirty="0"/>
          </a:p>
        </p:txBody>
      </p:sp>
      <p:pic>
        <p:nvPicPr>
          <p:cNvPr id="6" name="Link icon 2" descr="Link icon 2">    </p:cNvPr>
          <p:cNvPicPr>
            <a:picLocks noChangeAspect="1"/>
          </p:cNvPicPr>
          <p:nvPr/>
        </p:nvPicPr>
        <p:blipFill>
          <a:blip r:embed="rId2"/>
          <a:stretch>
            <a:fillRect/>
          </a:stretch>
        </p:blipFill>
        <p:spPr>
          <a:xfrm>
            <a:off x="822960" y="4617720"/>
            <a:ext cx="320040" cy="320040"/>
          </a:xfrm>
          <a:prstGeom prst="rect">
            <a:avLst/>
          </a:prstGeom>
        </p:spPr>
      </p:pic>
      <p:sp>
        <p:nvSpPr>
          <p:cNvPr id="7" name="Link text 2"/>
          <p:cNvSpPr txBox="1"/>
          <p:nvPr/>
        </p:nvSpPr>
        <p:spPr>
          <a:xfrm>
            <a:off x="1371600" y="4572000"/>
            <a:ext cx="6400800" cy="411480"/>
          </a:xfrm>
          <a:prstGeom prst="rect">
            <a:avLst/>
          </a:prstGeom>
          <a:noFill/>
          <a:ln/>
        </p:spPr>
        <p:txBody>
          <a:bodyPr wrap="square" lIns="0" tIns="0" rIns="0" bIns="0" rtlCol="0" anchor="ctr"/>
          <a:lstStyle/>
          <a:p>
            <a:pPr indent="0" marL="0">
              <a:buNone/>
            </a:pPr>
            <a:r>
              <a:rPr lang="en-US" sz="1800" dirty="0">
                <a:solidFill>
                  <a:schemeClr val="bg1"/>
                </a:solidFill>
              </a:rPr>
              <a:t>Live demo: [DEMO URL]</a:t>
            </a:r>
            <a:endParaRPr lang="en-US" sz="1800" dirty="0"/>
          </a:p>
        </p:txBody>
      </p:sp>
      <p:pic>
        <p:nvPicPr>
          <p:cNvPr id="8" name="Link icon 3" descr="Link icon 3">    </p:cNvPr>
          <p:cNvPicPr>
            <a:picLocks noChangeAspect="1"/>
          </p:cNvPicPr>
          <p:nvPr/>
        </p:nvPicPr>
        <p:blipFill>
          <a:blip r:embed="rId3"/>
          <a:stretch>
            <a:fillRect/>
          </a:stretch>
        </p:blipFill>
        <p:spPr>
          <a:xfrm>
            <a:off x="822960" y="5166360"/>
            <a:ext cx="320040" cy="320040"/>
          </a:xfrm>
          <a:prstGeom prst="rect">
            <a:avLst/>
          </a:prstGeom>
        </p:spPr>
      </p:pic>
      <p:sp>
        <p:nvSpPr>
          <p:cNvPr id="9" name="Link text 3"/>
          <p:cNvSpPr txBox="1"/>
          <p:nvPr/>
        </p:nvSpPr>
        <p:spPr>
          <a:xfrm>
            <a:off x="1371600" y="5120640"/>
            <a:ext cx="6400800" cy="411480"/>
          </a:xfrm>
          <a:prstGeom prst="rect">
            <a:avLst/>
          </a:prstGeom>
          <a:noFill/>
          <a:ln/>
        </p:spPr>
        <p:txBody>
          <a:bodyPr wrap="square" lIns="0" tIns="0" rIns="0" bIns="0" rtlCol="0" anchor="ctr"/>
          <a:lstStyle/>
          <a:p>
            <a:pPr indent="0" marL="0">
              <a:buNone/>
            </a:pPr>
            <a:r>
              <a:rPr lang="en-US" sz="1800" dirty="0">
                <a:solidFill>
                  <a:schemeClr val="bg1"/>
                </a:solidFill>
              </a:rPr>
              <a:t>[TEAM NAME]  ·  [HACKATHON NAME]</a:t>
            </a:r>
            <a:endParaRPr lang="en-US" sz="1800" dirty="0"/>
          </a:p>
        </p:txBody>
      </p:sp>
      <p:sp>
        <p:nvSpPr>
          <p:cNvPr id="10" name="QR placeholder"/>
          <p:cNvSpPr/>
          <p:nvPr/>
        </p:nvSpPr>
        <p:spPr>
          <a:xfrm>
            <a:off x="8503920" y="1097280"/>
            <a:ext cx="2834640" cy="2834640"/>
          </a:xfrm>
          <a:prstGeom prst="roundRect">
            <a:avLst>
              <a:gd name="adj" fmla="val 3871"/>
            </a:avLst>
          </a:prstGeom>
          <a:solidFill>
            <a:schemeClr val="bg1">
              <a:alpha val="10000"/>
            </a:schemeClr>
          </a:solidFill>
          <a:ln w="19050">
            <a:solidFill>
              <a:schemeClr val="bg2"/>
            </a:solidFill>
            <a:prstDash val="dash"/>
          </a:ln>
        </p:spPr>
      </p:sp>
      <p:sp>
        <p:nvSpPr>
          <p:cNvPr id="11" name="QR placeholder text"/>
          <p:cNvSpPr txBox="1"/>
          <p:nvPr/>
        </p:nvSpPr>
        <p:spPr>
          <a:xfrm>
            <a:off x="8503920" y="1097280"/>
            <a:ext cx="2834640" cy="2834640"/>
          </a:xfrm>
          <a:prstGeom prst="rect">
            <a:avLst/>
          </a:prstGeom>
          <a:noFill/>
          <a:ln/>
        </p:spPr>
        <p:txBody>
          <a:bodyPr wrap="square" lIns="0" tIns="0" rIns="0" bIns="0" rtlCol="0" anchor="ctr"/>
          <a:lstStyle/>
          <a:p>
            <a:pPr algn="ctr" indent="0" marL="0">
              <a:buNone/>
            </a:pPr>
            <a:r>
              <a:rPr lang="en-US" sz="1600" b="1" dirty="0">
                <a:solidFill>
                  <a:schemeClr val="bg2"/>
                </a:solidFill>
              </a:rPr>
              <a:t>QR CODE</a:t>
            </a:r>
            <a:endParaRPr lang="en-US" sz="1600" dirty="0"/>
          </a:p>
        </p:txBody>
      </p:sp>
      <p:sp>
        <p:nvSpPr>
          <p:cNvPr id="12" name="Thanks"/>
          <p:cNvSpPr txBox="1"/>
          <p:nvPr/>
        </p:nvSpPr>
        <p:spPr>
          <a:xfrm>
            <a:off x="8503920" y="4206240"/>
            <a:ext cx="3108960" cy="548640"/>
          </a:xfrm>
          <a:prstGeom prst="rect">
            <a:avLst/>
          </a:prstGeom>
          <a:noFill/>
          <a:ln/>
        </p:spPr>
        <p:txBody>
          <a:bodyPr wrap="square" lIns="0" tIns="0" rIns="0" bIns="0" rtlCol="0" anchor="t"/>
          <a:lstStyle/>
          <a:p>
            <a:pPr indent="0" marL="0">
              <a:buNone/>
            </a:pPr>
            <a:r>
              <a:rPr lang="en-US" sz="2400" b="1" dirty="0">
                <a:solidFill>
                  <a:schemeClr val="bg1"/>
                </a:solidFill>
              </a:rPr>
              <a:t>Thank you — questions?</a:t>
            </a:r>
            <a:endParaRPr lang="en-US" sz="2400" dirty="0"/>
          </a:p>
        </p:txBody>
      </p:sp>
      <p:sp>
        <p:nvSpPr>
          <p:cNvPr id="13" name="Disclaimer"/>
          <p:cNvSpPr txBox="1"/>
          <p:nvPr/>
        </p:nvSpPr>
        <p:spPr>
          <a:xfrm>
            <a:off x="822960" y="6263640"/>
            <a:ext cx="10515600" cy="274320"/>
          </a:xfrm>
          <a:prstGeom prst="rect">
            <a:avLst/>
          </a:prstGeom>
          <a:noFill/>
          <a:ln/>
        </p:spPr>
        <p:txBody>
          <a:bodyPr wrap="square" lIns="0" tIns="0" rIns="0" bIns="0" rtlCol="0" anchor="t"/>
          <a:lstStyle/>
          <a:p>
            <a:pPr indent="0" marL="0">
              <a:buNone/>
            </a:pPr>
            <a:r>
              <a:rPr lang="en-US" sz="1200" dirty="0">
                <a:solidFill>
                  <a:schemeClr val="bg2"/>
                </a:solidFill>
              </a:rPr>
              <a:t>LexiShield AI provides informational analysis and does not replace a qualified lawyer.</a:t>
            </a:r>
            <a:endParaRPr lang="en-US" sz="1200" dirty="0"/>
          </a:p>
        </p:txBody>
      </p:sp>
    </p:spTree>
  </p:cSld>
  <p:clrMapOvr>
    <a:masterClrMapping/>
  </p:clrMapOvr>
</p:sld>
</file>

<file path=ppt/theme/theme1.xml><?xml version="1.0" encoding="utf-8"?>
<a:theme xmlns:a="http://schemas.openxmlformats.org/drawingml/2006/main" name="LexiShield">
  <a:themeElements>
    <a:clrScheme name="LexiShield">
      <a:dk1>
        <a:srgbClr val="14243B"/>
      </a:dk1>
      <a:lt1>
        <a:srgbClr val="FFFFFF"/>
      </a:lt1>
      <a:dk2>
        <a:srgbClr val="1E3A5F"/>
      </a:dk2>
      <a:lt2>
        <a:srgbClr val="EEF3FA"/>
      </a:lt2>
      <a:accent1>
        <a:srgbClr val="2563EB"/>
      </a:accent1>
      <a:accent2>
        <a:srgbClr val="C8453B"/>
      </a:accent2>
      <a:accent3>
        <a:srgbClr val="B7791F"/>
      </a:accent3>
      <a:accent4>
        <a:srgbClr val="1F7A55"/>
      </a:accent4>
      <a:accent5>
        <a:srgbClr val="64748B"/>
      </a:accent5>
      <a:accent6>
        <a:srgbClr val="9DC0FF"/>
      </a:accent6>
      <a:hlink>
        <a:srgbClr val="2563EB"/>
      </a:hlink>
      <a:folHlink>
        <a:srgbClr val="6D5BD0"/>
      </a:folHlink>
    </a:clrScheme>
    <a:fontScheme name="LexiShiel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LexiShield AI — Hackathon Pitch Deck</dc:title>
  <dc:subject>PptxGenJS Presentation</dc:subject>
  <dc:creator>PptxGenJS</dc:creator>
  <cp:lastModifiedBy>PptxGenJS</cp:lastModifiedBy>
  <cp:revision>1</cp:revision>
  <dcterms:created xsi:type="dcterms:W3CDTF">2026-10-10T00:07:18Z</dcterms:created>
  <dcterms:modified xsi:type="dcterms:W3CDTF">2026-10-10T00:07:18Z</dcterms:modified>
</cp:coreProperties>
</file>